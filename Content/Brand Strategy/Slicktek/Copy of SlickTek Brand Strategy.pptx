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74B98C-4EF9-4EA6-9CCF-815191E1CE4D}">
  <a:tblStyle styleId="{2B74B98C-4EF9-4EA6-9CCF-815191E1CE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11" Type="http://schemas.openxmlformats.org/officeDocument/2006/relationships/image" Target="../media/image20.png"/><Relationship Id="rId10" Type="http://schemas.openxmlformats.org/officeDocument/2006/relationships/image" Target="../media/image31.png"/><Relationship Id="rId12" Type="http://schemas.openxmlformats.org/officeDocument/2006/relationships/image" Target="../media/image26.png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86050"/>
            <a:ext cx="11601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SLICKTEK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290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DEFINING THE FUTURE OF WORKSPACE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THE STRATEGY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218122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 an </a:t>
            </a: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"Owned-Media First"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brand. Engineer organic hype and absolute authority before scaling with influencers.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52863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67012"/>
            <a:ext cx="528637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1575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THE VIBE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7099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Cyber-minimalism meets precision engineering. A blend of premium sci-fi and modern utilitarianism.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31575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THE VOICE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7099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Punchy, tech-forward, and zero-fluff. "Engineered for the modern workflow. Zero friction."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FUTURISTIC MINIMALISM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69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047750" y="1957387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Deep Blacks: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Commanding presence and depth.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47750" y="2481262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Metallic Silvers: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Precision and durability feel.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47750" y="3005137"/>
            <a:ext cx="4810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Stark Lighting: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Highlighting product edges.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47750" y="3529012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Negative Space: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Minimalist, high-end studio aesthetic.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95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19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43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7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 LANGUAGE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7"/>
          <p:cNvGraphicFramePr/>
          <p:nvPr/>
        </p:nvGraphicFramePr>
        <p:xfrm>
          <a:off x="571500" y="2176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{2B74B98C-4EF9-4EA6-9CCF-815191E1CE4D}</a:tableStyleId>
              </a:tblPr>
              <a:tblGrid>
                <a:gridCol w="3007225"/>
                <a:gridCol w="3463675"/>
                <a:gridCol w="4578100"/>
              </a:tblGrid>
              <a:tr h="67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Product 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Demographic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The Pain Point Solved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2FF"/>
                    </a:solidFill>
                  </a:tcPr>
                </a:tc>
              </a:tr>
              <a:tr h="67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SlickTek One (NFC)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 Z Hustlers (16-32)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Friction of manual networking.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Desk Gear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WFH Pros &amp; Coders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Clutter and poor aesthetics.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MagSafe Stands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 Creators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Flimsy stands for streaming.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EDC Holders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Minimalists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Bulky and disorganized wallets.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17"/>
          <p:cNvSpPr/>
          <p:nvPr/>
        </p:nvSpPr>
        <p:spPr>
          <a:xfrm>
            <a:off x="571500" y="3505200"/>
            <a:ext cx="30072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578721" y="3505200"/>
            <a:ext cx="3463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7042398" y="3505200"/>
            <a:ext cx="45781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71500" y="4181475"/>
            <a:ext cx="30072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578721" y="4181475"/>
            <a:ext cx="3463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042398" y="4181475"/>
            <a:ext cx="45781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4857750"/>
            <a:ext cx="30072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578721" y="4857750"/>
            <a:ext cx="3463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042398" y="4857750"/>
            <a:ext cx="45781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71500" y="5534025"/>
            <a:ext cx="30072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3578721" y="5534025"/>
            <a:ext cx="3463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042398" y="5534025"/>
            <a:ext cx="457810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SLICKTEK TRIBE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PHASE 1: BUILD THE HOUSE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21812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 the SlickTek ecosystem before external engagement.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2914650" y="307657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Owned Media First: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Curate a premium digital ecosystem before scaling.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2914650" y="3600450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Daily Connection: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Treat social channels like a high-end tech publication.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2914650" y="412432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Exclusivity: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Frame lack of influencer spam as a deliberate premium choice.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0" y="3114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36385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8400" y="41624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EXECUTION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7950"/>
            <a:ext cx="349254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47950"/>
            <a:ext cx="349254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47950"/>
            <a:ext cx="3492549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794225" y="3705225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CYBER ASMR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66775" y="392430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Metallic clicks and dark-mode aesthetics. Sensory satisfaction.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572524" y="3705225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ZERO-FRICTION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45074" y="3924300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POV shots demonstrating speed and instant organization.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350824" y="3705225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TRUST BUILDER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423374" y="3924300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Educational lifestyle tech guides and workspace tips.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9813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CONTENT PILLARS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7912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7912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500312"/>
            <a:ext cx="31877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2199" y="2500312"/>
            <a:ext cx="31877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0499" y="2500312"/>
            <a:ext cx="31877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644206" y="4548187"/>
            <a:ext cx="33471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YOUTUBE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23900" y="4767262"/>
            <a:ext cx="31877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SEO Anchor. Shorts for growth, Long-form for trust.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422505" y="4548187"/>
            <a:ext cx="33471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INSTAGRAM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502199" y="4767262"/>
            <a:ext cx="31877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Hype Hub. Trending Reels and BTS Stories.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200805" y="4548187"/>
            <a:ext cx="33471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TIKTOK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280499" y="4767262"/>
            <a:ext cx="31877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Global Ghost-Node. Viral tech reach.</a:t>
            </a:r>
            <a:endParaRPr/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2509837"/>
            <a:ext cx="316869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10225" y="2509837"/>
            <a:ext cx="9715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90024" y="2509837"/>
            <a:ext cx="316869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PLATFORM PLAYBOOK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71500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CONTENT FUNNEL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34337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Awareness: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Viral reach with Cyber ASMR.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37195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Consideration: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Long-form tech deep-dives.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40052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Conversion: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Urgency-driven Stories and Drops.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1746870" y="3767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582790" y="3767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418709" y="3767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10254629" y="37671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3862387"/>
            <a:ext cx="11049000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07968" y="4148137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1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4367212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Aesthetic Drop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3343888" y="3071812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2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3407419" y="3290887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Utility Reveal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179808" y="4148137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3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243339" y="4367212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Authority Build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015728" y="3071812"/>
            <a:ext cx="26683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4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079259" y="3290887"/>
            <a:ext cx="25412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Social Proof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30-DAY LAUNCH CADENCE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295275" y="2433637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SLICKTEK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33861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Defining the Future of Workspace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414813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/>
          <p:nvPr/>
        </p:nvSpPr>
        <p:spPr>
          <a:xfrm>
            <a:off x="571500" y="18526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26241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3956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416718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2614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614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386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386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157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157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5100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5100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20026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http://carbonfibergear.com/cdn/shop/articles/Black_Carbon_Car_Side_Mirror_pexels_featured_image.jpg?v=1746457195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22359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carbonfibergear.com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67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27741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https://cdn.autonomous.ai/production/ecm/250327/modern-black-home-office-ideas.webp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30075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www.autonomous.ai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38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35456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https://images.stockcake.com/public/2/9/7/29722e6f-9545-4adb-88ec-bf5064f9884d_large/neon-coder-setup-stockcake.jpg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37790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95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43100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https://static.vecteezy.com/system/resources/previews/035/208/715/non_2x/abstract-digital-technology-hi-tech-futuristic-grey-white-background-cyber-information-communication-innovation-future-tech-data-internet-network-connection-ai-big-data-lines-dots-circuit-vector.jpg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47291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53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52601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https://images.squarespace-cdn.com/content/v1/63dde481bbabc6724d988548/50175b61-a0cd-447a-a48c-e3243738a490/16.jpg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54935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www.lorddecor.com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