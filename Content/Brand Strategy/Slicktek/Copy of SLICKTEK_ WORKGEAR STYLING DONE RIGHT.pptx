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7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8229600" cx="14630400"/>
  <p:notesSz cx="8229600" cy="14630400"/>
  <p:embeddedFontLst>
    <p:embeddedFont>
      <p:font typeface="Inconsolata"/>
      <p:regular r:id="rId13"/>
      <p:bold r:id="rId14"/>
    </p:embeddedFont>
    <p:embeddedFont>
      <p:font typeface="Montserrat"/>
      <p:regular r:id="rId15"/>
      <p:bold r:id="rId16"/>
      <p:italic r:id="rId17"/>
      <p:boldItalic r:id="rId18"/>
    </p:embeddedFont>
    <p:embeddedFont>
      <p:font typeface="Montserrat Black"/>
      <p:bold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Black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Inconsolata-regular.fnt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-regular.fntdata"/><Relationship Id="rId14" Type="http://schemas.openxmlformats.org/officeDocument/2006/relationships/font" Target="fonts/Inconsolata-bold.fntdata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5" Type="http://schemas.openxmlformats.org/officeDocument/2006/relationships/slide" Target="slides/slide1.xml"/><Relationship Id="rId19" Type="http://schemas.openxmlformats.org/officeDocument/2006/relationships/font" Target="fonts/MontserratBlack-bold.fntdata"/><Relationship Id="rId6" Type="http://schemas.openxmlformats.org/officeDocument/2006/relationships/slide" Target="slides/slide2.xml"/><Relationship Id="rId18" Type="http://schemas.openxmlformats.org/officeDocument/2006/relationships/font" Target="fonts/Montserrat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Relationship Id="rId4" Type="http://schemas.openxmlformats.org/officeDocument/2006/relationships/image" Target="../media/image19.png"/><Relationship Id="rId5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7.png"/><Relationship Id="rId5" Type="http://schemas.openxmlformats.org/officeDocument/2006/relationships/image" Target="../media/image14.png"/><Relationship Id="rId6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12.png"/><Relationship Id="rId5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793790" y="2688669"/>
            <a:ext cx="130428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4450"/>
              <a:buFont typeface="Montserrat"/>
              <a:buNone/>
            </a:pPr>
            <a:r>
              <a:rPr b="1" i="0" lang="en-US" sz="4450" u="none" cap="none" strike="noStrike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SLICKTEK: WORKGEAR STYLING DONE RIGHT</a:t>
            </a:r>
            <a:endParaRPr b="0" i="0" sz="4450" u="none" cap="none" strike="noStrike"/>
          </a:p>
        </p:txBody>
      </p:sp>
      <p:sp>
        <p:nvSpPr>
          <p:cNvPr id="49" name="Google Shape;49;p11"/>
          <p:cNvSpPr/>
          <p:nvPr/>
        </p:nvSpPr>
        <p:spPr>
          <a:xfrm>
            <a:off x="793790" y="4559856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750"/>
              <a:buFont typeface="Inconsolata"/>
              <a:buNone/>
            </a:pPr>
            <a:r>
              <a:rPr b="1" i="0" lang="en-US" sz="17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Strategic Brand &amp; Growth Blueprint</a:t>
            </a:r>
            <a:endParaRPr b="0" i="0" sz="1750" u="none" cap="none" strike="noStrike"/>
          </a:p>
        </p:txBody>
      </p:sp>
      <p:sp>
        <p:nvSpPr>
          <p:cNvPr id="50" name="Google Shape;50;p11"/>
          <p:cNvSpPr/>
          <p:nvPr/>
        </p:nvSpPr>
        <p:spPr>
          <a:xfrm>
            <a:off x="793790" y="5177909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750"/>
              <a:buFont typeface="Inconsolata"/>
              <a:buNone/>
            </a:pPr>
            <a:r>
              <a:rPr b="0" i="0" lang="en-US" sz="17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Prepared by: Krish Patil | Date: March 2026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/>
          <p:nvPr/>
        </p:nvSpPr>
        <p:spPr>
          <a:xfrm>
            <a:off x="793790" y="1741170"/>
            <a:ext cx="4902994" cy="566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3550"/>
              <a:buFont typeface="Montserrat"/>
              <a:buNone/>
            </a:pPr>
            <a:r>
              <a:rPr b="1" i="0" lang="en-US" sz="3550" u="none" cap="none" strike="noStrike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Executive Summary</a:t>
            </a:r>
            <a:endParaRPr b="0" i="0" sz="3550" u="none" cap="none" strike="noStrike"/>
          </a:p>
        </p:txBody>
      </p:sp>
      <p:sp>
        <p:nvSpPr>
          <p:cNvPr id="57" name="Google Shape;57;p12"/>
          <p:cNvSpPr/>
          <p:nvPr/>
        </p:nvSpPr>
        <p:spPr>
          <a:xfrm>
            <a:off x="793790" y="2761774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750"/>
              <a:buFont typeface="Inconsolata"/>
              <a:buNone/>
            </a:pPr>
            <a:r>
              <a:rPr b="1" i="0" lang="en-US" sz="17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The Core Premise:</a:t>
            </a:r>
            <a:r>
              <a:rPr b="0" i="0" lang="en-US" sz="17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 SlickTek is a productivity ecosystem — premium aerospace-grade hardware married to recurring SaaS utility.</a:t>
            </a:r>
            <a:endParaRPr b="0" i="0" sz="1750" u="none" cap="none" strike="noStrike"/>
          </a:p>
        </p:txBody>
      </p:sp>
      <p:sp>
        <p:nvSpPr>
          <p:cNvPr id="58" name="Google Shape;58;p12"/>
          <p:cNvSpPr/>
          <p:nvPr/>
        </p:nvSpPr>
        <p:spPr>
          <a:xfrm>
            <a:off x="793790" y="3742730"/>
            <a:ext cx="510302" cy="510302"/>
          </a:xfrm>
          <a:prstGeom prst="roundRect">
            <a:avLst>
              <a:gd fmla="val 1792" name="adj"/>
            </a:avLst>
          </a:prstGeom>
          <a:solidFill>
            <a:srgbClr val="F8ECE4"/>
          </a:solidFill>
          <a:ln cap="flat" cmpd="sng" w="9525">
            <a:solidFill>
              <a:srgbClr val="15161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20320">
              <a:srgbClr val="15161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" name="Google Shape;5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8860" y="3827740"/>
            <a:ext cx="340162" cy="3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2"/>
          <p:cNvSpPr/>
          <p:nvPr/>
        </p:nvSpPr>
        <p:spPr>
          <a:xfrm>
            <a:off x="1530906" y="382059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Current Status</a:t>
            </a:r>
            <a:endParaRPr b="0" i="0" sz="2200" u="none" cap="none" strike="noStrike"/>
          </a:p>
        </p:txBody>
      </p:sp>
      <p:sp>
        <p:nvSpPr>
          <p:cNvPr id="61" name="Google Shape;61;p12"/>
          <p:cNvSpPr/>
          <p:nvPr/>
        </p:nvSpPr>
        <p:spPr>
          <a:xfrm>
            <a:off x="1530906" y="4311015"/>
            <a:ext cx="3421499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750"/>
              <a:buFont typeface="Inconsolata"/>
              <a:buNone/>
            </a:pPr>
            <a:r>
              <a:rPr b="0" i="0" lang="en-US" sz="17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Launched successfully as a premium D2C spin-off; early adopters include design-forward hybrid professionals and creators.</a:t>
            </a:r>
            <a:endParaRPr b="0" i="0" sz="1750" u="none" cap="none" strike="noStrike"/>
          </a:p>
        </p:txBody>
      </p:sp>
      <p:sp>
        <p:nvSpPr>
          <p:cNvPr id="62" name="Google Shape;62;p12"/>
          <p:cNvSpPr/>
          <p:nvPr/>
        </p:nvSpPr>
        <p:spPr>
          <a:xfrm>
            <a:off x="5235893" y="3742730"/>
            <a:ext cx="510302" cy="510302"/>
          </a:xfrm>
          <a:prstGeom prst="roundRect">
            <a:avLst>
              <a:gd fmla="val 1792" name="adj"/>
            </a:avLst>
          </a:prstGeom>
          <a:solidFill>
            <a:srgbClr val="F8ECE4"/>
          </a:solidFill>
          <a:ln cap="flat" cmpd="sng" w="9525">
            <a:solidFill>
              <a:srgbClr val="15161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20320">
              <a:srgbClr val="15161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" name="Google Shape;6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20963" y="3827740"/>
            <a:ext cx="340162" cy="3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2"/>
          <p:cNvSpPr/>
          <p:nvPr/>
        </p:nvSpPr>
        <p:spPr>
          <a:xfrm>
            <a:off x="5973008" y="382059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Strategic Shift</a:t>
            </a:r>
            <a:endParaRPr b="0" i="0" sz="2200" u="none" cap="none" strike="noStrike"/>
          </a:p>
        </p:txBody>
      </p:sp>
      <p:sp>
        <p:nvSpPr>
          <p:cNvPr id="65" name="Google Shape;65;p12"/>
          <p:cNvSpPr/>
          <p:nvPr/>
        </p:nvSpPr>
        <p:spPr>
          <a:xfrm>
            <a:off x="5973008" y="4311015"/>
            <a:ext cx="3421499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750"/>
              <a:buFont typeface="Inconsolata"/>
              <a:buNone/>
            </a:pPr>
            <a:r>
              <a:rPr b="0" i="0" lang="en-US" sz="17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Move from “cool accessory” to indispensable everyday-carry ecosystem — positioning hardware as the acquisition engine and SaaS as the retention engine.</a:t>
            </a:r>
            <a:endParaRPr b="0" i="0" sz="1750" u="none" cap="none" strike="noStrike"/>
          </a:p>
        </p:txBody>
      </p:sp>
      <p:sp>
        <p:nvSpPr>
          <p:cNvPr id="66" name="Google Shape;66;p12"/>
          <p:cNvSpPr/>
          <p:nvPr/>
        </p:nvSpPr>
        <p:spPr>
          <a:xfrm>
            <a:off x="9677995" y="3742730"/>
            <a:ext cx="510302" cy="510302"/>
          </a:xfrm>
          <a:prstGeom prst="roundRect">
            <a:avLst>
              <a:gd fmla="val 1792" name="adj"/>
            </a:avLst>
          </a:prstGeom>
          <a:solidFill>
            <a:srgbClr val="F8ECE4"/>
          </a:solidFill>
          <a:ln cap="flat" cmpd="sng" w="9525">
            <a:solidFill>
              <a:srgbClr val="15161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20320">
              <a:srgbClr val="15161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7" name="Google Shape;67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63065" y="3827740"/>
            <a:ext cx="340162" cy="3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2"/>
          <p:cNvSpPr/>
          <p:nvPr/>
        </p:nvSpPr>
        <p:spPr>
          <a:xfrm>
            <a:off x="10415111" y="3820597"/>
            <a:ext cx="2873097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Business Outcome</a:t>
            </a:r>
            <a:endParaRPr b="0" i="0" sz="2200" u="none" cap="none" strike="noStrike"/>
          </a:p>
        </p:txBody>
      </p:sp>
      <p:sp>
        <p:nvSpPr>
          <p:cNvPr id="69" name="Google Shape;69;p12"/>
          <p:cNvSpPr/>
          <p:nvPr/>
        </p:nvSpPr>
        <p:spPr>
          <a:xfrm>
            <a:off x="10415111" y="4311015"/>
            <a:ext cx="3421499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750"/>
              <a:buFont typeface="Inconsolata"/>
              <a:buNone/>
            </a:pPr>
            <a:r>
              <a:rPr b="0" i="0" lang="en-US" sz="17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Lock users into a high-margin hardware → software revenue loop that increases LTV and improves gross margin predictability.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/>
          <p:nvPr/>
        </p:nvSpPr>
        <p:spPr>
          <a:xfrm>
            <a:off x="793790" y="1798558"/>
            <a:ext cx="6167795" cy="566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3550"/>
              <a:buFont typeface="Montserrat"/>
              <a:buNone/>
            </a:pPr>
            <a:r>
              <a:rPr b="1" i="0" lang="en-US" sz="3550" u="none" cap="none" strike="noStrike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Brand Foundation &amp; DNA</a:t>
            </a:r>
            <a:endParaRPr b="0" i="0" sz="3550" u="none" cap="none" strike="noStrike"/>
          </a:p>
        </p:txBody>
      </p:sp>
      <p:pic>
        <p:nvPicPr>
          <p:cNvPr descr="preencoded.png" id="76" name="Google Shape;7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819162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3"/>
          <p:cNvSpPr/>
          <p:nvPr/>
        </p:nvSpPr>
        <p:spPr>
          <a:xfrm>
            <a:off x="1644253" y="281916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Mission</a:t>
            </a:r>
            <a:endParaRPr b="0" i="0" sz="2200" u="none" cap="none" strike="noStrike"/>
          </a:p>
        </p:txBody>
      </p:sp>
      <p:sp>
        <p:nvSpPr>
          <p:cNvPr id="78" name="Google Shape;78;p13"/>
          <p:cNvSpPr/>
          <p:nvPr/>
        </p:nvSpPr>
        <p:spPr>
          <a:xfrm>
            <a:off x="1644253" y="3309580"/>
            <a:ext cx="5529143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750"/>
              <a:buFont typeface="Inconsolata"/>
              <a:buNone/>
            </a:pPr>
            <a:r>
              <a:rPr b="0" i="0" lang="en-US" sz="17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Empower independent professionals with precision-crafted gadgets that blend lifestyle aesthetics with seamless function.</a:t>
            </a:r>
            <a:endParaRPr b="0" i="0" sz="1750" u="none" cap="none" strike="noStrike"/>
          </a:p>
        </p:txBody>
      </p:sp>
      <p:pic>
        <p:nvPicPr>
          <p:cNvPr descr="preencoded.png" id="79" name="Google Shape;7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56884" y="2819162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3"/>
          <p:cNvSpPr/>
          <p:nvPr/>
        </p:nvSpPr>
        <p:spPr>
          <a:xfrm>
            <a:off x="8307348" y="281916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Vision</a:t>
            </a:r>
            <a:endParaRPr b="0" i="0" sz="2200" u="none" cap="none" strike="noStrike"/>
          </a:p>
        </p:txBody>
      </p:sp>
      <p:sp>
        <p:nvSpPr>
          <p:cNvPr id="81" name="Google Shape;81;p13"/>
          <p:cNvSpPr/>
          <p:nvPr/>
        </p:nvSpPr>
        <p:spPr>
          <a:xfrm>
            <a:off x="8307348" y="3309580"/>
            <a:ext cx="5529263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750"/>
              <a:buFont typeface="Inconsolata"/>
              <a:buNone/>
            </a:pPr>
            <a:r>
              <a:rPr b="0" i="0" lang="en-US" sz="17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Build the ultimate modern-work ecosystem that frees users from legacy corporate tools and creates daily dependency.</a:t>
            </a:r>
            <a:endParaRPr b="0" i="0" sz="1750" u="none" cap="none" strike="noStrike"/>
          </a:p>
        </p:txBody>
      </p:sp>
      <p:pic>
        <p:nvPicPr>
          <p:cNvPr descr="preencoded.png" id="82" name="Google Shape;82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790" y="4851916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3"/>
          <p:cNvSpPr/>
          <p:nvPr/>
        </p:nvSpPr>
        <p:spPr>
          <a:xfrm>
            <a:off x="1644253" y="4851916"/>
            <a:ext cx="3657243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Material &amp; Sensory DNA</a:t>
            </a:r>
            <a:endParaRPr b="0" i="0" sz="2200" u="none" cap="none" strike="noStrike"/>
          </a:p>
        </p:txBody>
      </p:sp>
      <p:sp>
        <p:nvSpPr>
          <p:cNvPr id="84" name="Google Shape;84;p13"/>
          <p:cNvSpPr/>
          <p:nvPr/>
        </p:nvSpPr>
        <p:spPr>
          <a:xfrm>
            <a:off x="1644253" y="5342334"/>
            <a:ext cx="5529143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750"/>
              <a:buFont typeface="Inconsolata"/>
              <a:buNone/>
            </a:pPr>
            <a:r>
              <a:rPr b="0" i="0" lang="en-US" sz="17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Aerospace aluminum, matte finishes, N52 magnets  tactile, ASMR-forward interactions that elevate perceived status.</a:t>
            </a:r>
            <a:endParaRPr b="0" i="0" sz="1750" u="none" cap="none" strike="noStrike"/>
          </a:p>
        </p:txBody>
      </p:sp>
      <p:pic>
        <p:nvPicPr>
          <p:cNvPr descr="preencoded.png" id="85" name="Google Shape;85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56884" y="4851916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/>
          <p:nvPr/>
        </p:nvSpPr>
        <p:spPr>
          <a:xfrm>
            <a:off x="8307348" y="4851916"/>
            <a:ext cx="2853333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Archetype &amp; Voice</a:t>
            </a:r>
            <a:endParaRPr b="0" i="0" sz="2200" u="none" cap="none" strike="noStrike"/>
          </a:p>
        </p:txBody>
      </p:sp>
      <p:sp>
        <p:nvSpPr>
          <p:cNvPr id="87" name="Google Shape;87;p13"/>
          <p:cNvSpPr/>
          <p:nvPr/>
        </p:nvSpPr>
        <p:spPr>
          <a:xfrm>
            <a:off x="8307348" y="5342334"/>
            <a:ext cx="552926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750"/>
              <a:buFont typeface="Inconsolata"/>
              <a:buNone/>
            </a:pPr>
            <a:r>
              <a:rPr b="0" i="0" lang="en-US" sz="17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The Explorer + The Magician. Brand voice: confident, sleek, assertive, minimalist.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793790" y="1186815"/>
            <a:ext cx="6699290" cy="566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3550"/>
              <a:buFont typeface="Montserrat"/>
              <a:buNone/>
            </a:pPr>
            <a:r>
              <a:rPr b="1" i="0" lang="en-US" sz="3550" u="none" cap="none" strike="noStrike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The Target Audience (ICPs)</a:t>
            </a:r>
            <a:endParaRPr b="0" i="0" sz="3550" u="none" cap="none" strike="noStrike"/>
          </a:p>
        </p:txBody>
      </p:sp>
      <p:sp>
        <p:nvSpPr>
          <p:cNvPr id="94" name="Google Shape;94;p14"/>
          <p:cNvSpPr/>
          <p:nvPr/>
        </p:nvSpPr>
        <p:spPr>
          <a:xfrm>
            <a:off x="793790" y="2207419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750"/>
              <a:buFont typeface="Inconsolata"/>
              <a:buNone/>
            </a:pPr>
            <a:r>
              <a:rPr b="0" i="0" lang="en-US" sz="17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Three prioritized customer segments, conversion triggers, and primary messaging hooks.</a:t>
            </a:r>
            <a:endParaRPr b="0" i="0" sz="1750" u="none" cap="none" strike="noStrike"/>
          </a:p>
        </p:txBody>
      </p:sp>
      <p:sp>
        <p:nvSpPr>
          <p:cNvPr id="95" name="Google Shape;95;p14"/>
          <p:cNvSpPr/>
          <p:nvPr/>
        </p:nvSpPr>
        <p:spPr>
          <a:xfrm>
            <a:off x="793790" y="2825472"/>
            <a:ext cx="4196358" cy="4217194"/>
          </a:xfrm>
          <a:prstGeom prst="roundRect">
            <a:avLst>
              <a:gd fmla="val 218" name="adj"/>
            </a:avLst>
          </a:prstGeom>
          <a:solidFill>
            <a:srgbClr val="F8ECE4"/>
          </a:solidFill>
          <a:ln cap="flat" cmpd="sng" w="30475">
            <a:solidFill>
              <a:srgbClr val="15161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20320">
              <a:srgbClr val="15161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824270" y="2855952"/>
            <a:ext cx="4135500" cy="680400"/>
          </a:xfrm>
          <a:prstGeom prst="rect">
            <a:avLst/>
          </a:prstGeom>
          <a:solidFill>
            <a:srgbClr val="F8ECE4"/>
          </a:solidFill>
          <a:ln>
            <a:noFill/>
          </a:ln>
          <a:effectLst>
            <a:outerShdw rotWithShape="0" algn="bl" dir="2700000" dist="20320">
              <a:srgbClr val="15161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2721888" y="2979658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650"/>
              <a:buFont typeface="Montserrat"/>
              <a:buNone/>
            </a:pPr>
            <a:r>
              <a:rPr b="1" i="0" lang="en-US" sz="2650" u="none" cap="none" strike="noStrike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0" i="0" sz="2650" u="none" cap="none" strike="noStrike"/>
          </a:p>
        </p:txBody>
      </p:sp>
      <p:sp>
        <p:nvSpPr>
          <p:cNvPr id="98" name="Google Shape;98;p14"/>
          <p:cNvSpPr/>
          <p:nvPr/>
        </p:nvSpPr>
        <p:spPr>
          <a:xfrm>
            <a:off x="1051084" y="3763208"/>
            <a:ext cx="3681770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Core : The Hybrid Hustler</a:t>
            </a:r>
            <a:endParaRPr b="0" i="0" sz="2200" u="none" cap="none" strike="noStrike"/>
          </a:p>
        </p:txBody>
      </p:sp>
      <p:sp>
        <p:nvSpPr>
          <p:cNvPr id="99" name="Google Shape;99;p14"/>
          <p:cNvSpPr/>
          <p:nvPr/>
        </p:nvSpPr>
        <p:spPr>
          <a:xfrm>
            <a:off x="1051084" y="4607957"/>
            <a:ext cx="3681770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750"/>
              <a:buFont typeface="Inconsolata"/>
              <a:buNone/>
            </a:pPr>
            <a:r>
              <a:rPr b="0" i="0" lang="en-US" sz="17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25–38, design/tech/freelance, $75k+. Values aesthetic workspaces. Trigger: upgrading to a premium phone or home office refresh.</a:t>
            </a:r>
            <a:endParaRPr b="0" i="0" sz="1750" u="none" cap="none" strike="noStrike"/>
          </a:p>
        </p:txBody>
      </p:sp>
      <p:sp>
        <p:nvSpPr>
          <p:cNvPr id="100" name="Google Shape;100;p14"/>
          <p:cNvSpPr/>
          <p:nvPr/>
        </p:nvSpPr>
        <p:spPr>
          <a:xfrm>
            <a:off x="5216962" y="2825472"/>
            <a:ext cx="4196358" cy="4217194"/>
          </a:xfrm>
          <a:prstGeom prst="roundRect">
            <a:avLst>
              <a:gd fmla="val 218" name="adj"/>
            </a:avLst>
          </a:prstGeom>
          <a:solidFill>
            <a:srgbClr val="F8ECE4"/>
          </a:solidFill>
          <a:ln cap="flat" cmpd="sng" w="30475">
            <a:solidFill>
              <a:srgbClr val="15161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20320">
              <a:srgbClr val="15161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5247442" y="2855952"/>
            <a:ext cx="4135398" cy="680442"/>
          </a:xfrm>
          <a:prstGeom prst="rect">
            <a:avLst/>
          </a:prstGeom>
          <a:solidFill>
            <a:srgbClr val="F8ECE4"/>
          </a:solidFill>
          <a:ln>
            <a:noFill/>
          </a:ln>
          <a:effectLst>
            <a:outerShdw rotWithShape="0" algn="bl" dir="2700000" dist="20320">
              <a:srgbClr val="15161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7145060" y="2979658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650"/>
              <a:buFont typeface="Montserrat"/>
              <a:buNone/>
            </a:pPr>
            <a:r>
              <a:rPr b="1" i="0" lang="en-US" sz="2650" u="none" cap="none" strike="noStrike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0" i="0" sz="2650" u="none" cap="none" strike="noStrike"/>
          </a:p>
        </p:txBody>
      </p:sp>
      <p:sp>
        <p:nvSpPr>
          <p:cNvPr id="103" name="Google Shape;103;p14"/>
          <p:cNvSpPr/>
          <p:nvPr/>
        </p:nvSpPr>
        <p:spPr>
          <a:xfrm>
            <a:off x="5474256" y="3763208"/>
            <a:ext cx="3681770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Growth : The Modern Networker</a:t>
            </a:r>
            <a:endParaRPr b="0" i="0" sz="2200" u="none" cap="none" strike="noStrike"/>
          </a:p>
        </p:txBody>
      </p:sp>
      <p:sp>
        <p:nvSpPr>
          <p:cNvPr id="104" name="Google Shape;104;p14"/>
          <p:cNvSpPr/>
          <p:nvPr/>
        </p:nvSpPr>
        <p:spPr>
          <a:xfrm>
            <a:off x="5474256" y="4607957"/>
            <a:ext cx="3681770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750"/>
              <a:buFont typeface="Inconsolata"/>
              <a:buNone/>
            </a:pPr>
            <a:r>
              <a:rPr b="0" i="0" lang="en-US" sz="17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30–45, founders/sales/real estate. Values efficiency &amp; status. Trigger: conferences, client meetings — needs high-impact networking tools.</a:t>
            </a:r>
            <a:endParaRPr b="0" i="0" sz="1750" u="none" cap="none" strike="noStrike"/>
          </a:p>
        </p:txBody>
      </p:sp>
      <p:sp>
        <p:nvSpPr>
          <p:cNvPr id="105" name="Google Shape;105;p14"/>
          <p:cNvSpPr/>
          <p:nvPr/>
        </p:nvSpPr>
        <p:spPr>
          <a:xfrm>
            <a:off x="9640133" y="2825472"/>
            <a:ext cx="4196358" cy="4217194"/>
          </a:xfrm>
          <a:prstGeom prst="roundRect">
            <a:avLst>
              <a:gd fmla="val 218" name="adj"/>
            </a:avLst>
          </a:prstGeom>
          <a:solidFill>
            <a:srgbClr val="F8ECE4"/>
          </a:solidFill>
          <a:ln cap="flat" cmpd="sng" w="30475">
            <a:solidFill>
              <a:srgbClr val="15161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20320">
              <a:srgbClr val="15161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9670613" y="2855952"/>
            <a:ext cx="4135398" cy="680442"/>
          </a:xfrm>
          <a:prstGeom prst="rect">
            <a:avLst/>
          </a:prstGeom>
          <a:solidFill>
            <a:srgbClr val="F8ECE4"/>
          </a:solidFill>
          <a:ln>
            <a:noFill/>
          </a:ln>
          <a:effectLst>
            <a:outerShdw rotWithShape="0" algn="bl" dir="2700000" dist="20320">
              <a:srgbClr val="15161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11568232" y="2979658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650"/>
              <a:buFont typeface="Montserrat"/>
              <a:buNone/>
            </a:pPr>
            <a:r>
              <a:rPr b="1" i="0" lang="en-US" sz="2650" u="none" cap="none" strike="noStrike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0" i="0" sz="2650" u="none" cap="none" strike="noStrike"/>
          </a:p>
        </p:txBody>
      </p:sp>
      <p:sp>
        <p:nvSpPr>
          <p:cNvPr id="108" name="Google Shape;108;p14"/>
          <p:cNvSpPr/>
          <p:nvPr/>
        </p:nvSpPr>
        <p:spPr>
          <a:xfrm>
            <a:off x="9897427" y="3763208"/>
            <a:ext cx="3681770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Emerging : The Aesthetic Creator</a:t>
            </a:r>
            <a:endParaRPr b="0" i="0" sz="2200" u="none" cap="none" strike="noStrike"/>
          </a:p>
        </p:txBody>
      </p:sp>
      <p:sp>
        <p:nvSpPr>
          <p:cNvPr id="109" name="Google Shape;109;p14"/>
          <p:cNvSpPr/>
          <p:nvPr/>
        </p:nvSpPr>
        <p:spPr>
          <a:xfrm>
            <a:off x="9897427" y="4607957"/>
            <a:ext cx="3681770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750"/>
              <a:buFont typeface="Inconsolata"/>
              <a:buNone/>
            </a:pPr>
            <a:r>
              <a:rPr b="0" i="0" lang="en-US" sz="17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18–28, vloggers/content creators. Craves visual validation and shareable unboxing moments. Trigger: portable, pro-looking kit for content creation.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/>
          <p:nvPr/>
        </p:nvSpPr>
        <p:spPr>
          <a:xfrm>
            <a:off x="793790" y="1908572"/>
            <a:ext cx="9703356" cy="566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3550"/>
              <a:buFont typeface="Montserrat"/>
              <a:buNone/>
            </a:pPr>
            <a:r>
              <a:rPr b="1" i="0" lang="en-US" sz="3550" u="none" cap="none" strike="noStrike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Market Positioning &amp; Competitive Moat</a:t>
            </a:r>
            <a:endParaRPr b="0" i="0" sz="3550" u="none" cap="none" strike="noStrike"/>
          </a:p>
        </p:txBody>
      </p:sp>
      <p:sp>
        <p:nvSpPr>
          <p:cNvPr id="116" name="Google Shape;116;p15"/>
          <p:cNvSpPr/>
          <p:nvPr/>
        </p:nvSpPr>
        <p:spPr>
          <a:xfrm>
            <a:off x="793790" y="2929176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750"/>
              <a:buFont typeface="Inconsolata"/>
              <a:buNone/>
            </a:pPr>
            <a:r>
              <a:rPr b="1" i="0" lang="en-US" sz="17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Opportunity:</a:t>
            </a:r>
            <a:r>
              <a:rPr b="0" i="0" lang="en-US" sz="17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 Competitors either offer mass-market protection or lifestyle aesthetics without real tech integration. SlickTek owns Premium Metals + IoT Software.</a:t>
            </a:r>
            <a:endParaRPr b="0" i="0" sz="1750" u="none" cap="none" strike="noStrike"/>
          </a:p>
        </p:txBody>
      </p:sp>
      <p:sp>
        <p:nvSpPr>
          <p:cNvPr id="117" name="Google Shape;117;p15"/>
          <p:cNvSpPr/>
          <p:nvPr/>
        </p:nvSpPr>
        <p:spPr>
          <a:xfrm>
            <a:off x="793790" y="3910132"/>
            <a:ext cx="4196358" cy="2410897"/>
          </a:xfrm>
          <a:prstGeom prst="roundRect">
            <a:avLst>
              <a:gd fmla="val 379" name="adj"/>
            </a:avLst>
          </a:prstGeom>
          <a:solidFill>
            <a:srgbClr val="F8ECE4"/>
          </a:solidFill>
          <a:ln cap="flat" cmpd="sng" w="9525">
            <a:solidFill>
              <a:srgbClr val="15161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20320">
              <a:srgbClr val="15161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1028224" y="4144566"/>
            <a:ext cx="3601998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Hardware = Acquisition</a:t>
            </a:r>
            <a:endParaRPr b="0" i="0" sz="2200" u="none" cap="none" strike="noStrike"/>
          </a:p>
        </p:txBody>
      </p:sp>
      <p:sp>
        <p:nvSpPr>
          <p:cNvPr id="119" name="Google Shape;119;p15"/>
          <p:cNvSpPr/>
          <p:nvPr/>
        </p:nvSpPr>
        <p:spPr>
          <a:xfrm>
            <a:off x="1028224" y="4634984"/>
            <a:ext cx="3727490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750"/>
              <a:buFont typeface="Inconsolata"/>
              <a:buNone/>
            </a:pPr>
            <a:r>
              <a:rPr b="0" i="0" lang="en-US" sz="17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High-AOV aluminum products designed for shareable moments and social proof.</a:t>
            </a:r>
            <a:endParaRPr b="0" i="0" sz="1750" u="none" cap="none" strike="noStrike"/>
          </a:p>
        </p:txBody>
      </p:sp>
      <p:sp>
        <p:nvSpPr>
          <p:cNvPr id="120" name="Google Shape;120;p15"/>
          <p:cNvSpPr/>
          <p:nvPr/>
        </p:nvSpPr>
        <p:spPr>
          <a:xfrm>
            <a:off x="5216962" y="3910132"/>
            <a:ext cx="4196358" cy="2410897"/>
          </a:xfrm>
          <a:prstGeom prst="roundRect">
            <a:avLst>
              <a:gd fmla="val 379" name="adj"/>
            </a:avLst>
          </a:prstGeom>
          <a:solidFill>
            <a:srgbClr val="F8ECE4"/>
          </a:solidFill>
          <a:ln cap="flat" cmpd="sng" w="9525">
            <a:solidFill>
              <a:srgbClr val="15161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20320">
              <a:srgbClr val="15161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5451396" y="414456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SaaS = Retention</a:t>
            </a:r>
            <a:endParaRPr b="0" i="0" sz="2200" u="none" cap="none" strike="noStrike"/>
          </a:p>
        </p:txBody>
      </p:sp>
      <p:sp>
        <p:nvSpPr>
          <p:cNvPr id="122" name="Google Shape;122;p15"/>
          <p:cNvSpPr/>
          <p:nvPr/>
        </p:nvSpPr>
        <p:spPr>
          <a:xfrm>
            <a:off x="5451396" y="4634984"/>
            <a:ext cx="3727490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750"/>
              <a:buFont typeface="Inconsolata"/>
              <a:buNone/>
            </a:pPr>
            <a:r>
              <a:rPr b="0" i="0" lang="en-US" sz="17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SlickTek One — NFC profiles and networking tools that convert hardware buyers into recurring subscribers.</a:t>
            </a:r>
            <a:endParaRPr b="0" i="0" sz="1750" u="none" cap="none" strike="noStrike"/>
          </a:p>
        </p:txBody>
      </p:sp>
      <p:sp>
        <p:nvSpPr>
          <p:cNvPr id="123" name="Google Shape;123;p15"/>
          <p:cNvSpPr/>
          <p:nvPr/>
        </p:nvSpPr>
        <p:spPr>
          <a:xfrm>
            <a:off x="9640133" y="3910132"/>
            <a:ext cx="4196358" cy="2410897"/>
          </a:xfrm>
          <a:prstGeom prst="roundRect">
            <a:avLst>
              <a:gd fmla="val 379" name="adj"/>
            </a:avLst>
          </a:prstGeom>
          <a:solidFill>
            <a:srgbClr val="F8ECE4"/>
          </a:solidFill>
          <a:ln cap="flat" cmpd="sng" w="9525">
            <a:solidFill>
              <a:srgbClr val="15161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20320">
              <a:srgbClr val="15161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9874568" y="414456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Behavioral Moat</a:t>
            </a:r>
            <a:endParaRPr b="0" i="0" sz="2200" u="none" cap="none" strike="noStrike"/>
          </a:p>
        </p:txBody>
      </p:sp>
      <p:sp>
        <p:nvSpPr>
          <p:cNvPr id="125" name="Google Shape;125;p15"/>
          <p:cNvSpPr/>
          <p:nvPr/>
        </p:nvSpPr>
        <p:spPr>
          <a:xfrm>
            <a:off x="9874568" y="4634984"/>
            <a:ext cx="3727490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750"/>
              <a:buFont typeface="Inconsolata"/>
              <a:buNone/>
            </a:pPr>
            <a:r>
              <a:rPr b="0" i="0" lang="en-US" sz="17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Physical utility + social signaling + software identity = stickiness and repeat monetization.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6"/>
          <p:cNvSpPr/>
          <p:nvPr/>
        </p:nvSpPr>
        <p:spPr>
          <a:xfrm>
            <a:off x="793790" y="1231463"/>
            <a:ext cx="10276165" cy="566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3550"/>
              <a:buFont typeface="Montserrat"/>
              <a:buNone/>
            </a:pPr>
            <a:r>
              <a:rPr b="1" i="0" lang="en-US" sz="3550" u="none" cap="none" strike="noStrike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Product Ecosystem &amp; Architecture (JTBD)</a:t>
            </a:r>
            <a:endParaRPr b="0" i="0" sz="3550" u="none" cap="none" strike="noStrike"/>
          </a:p>
        </p:txBody>
      </p:sp>
      <p:sp>
        <p:nvSpPr>
          <p:cNvPr id="132" name="Google Shape;132;p16"/>
          <p:cNvSpPr/>
          <p:nvPr/>
        </p:nvSpPr>
        <p:spPr>
          <a:xfrm>
            <a:off x="793790" y="2592229"/>
            <a:ext cx="6407944" cy="226814"/>
          </a:xfrm>
          <a:prstGeom prst="roundRect">
            <a:avLst>
              <a:gd fmla="val 4031" name="adj"/>
            </a:avLst>
          </a:prstGeom>
          <a:solidFill>
            <a:srgbClr val="F8ECE4"/>
          </a:solidFill>
          <a:ln cap="flat" cmpd="sng" w="9525">
            <a:solidFill>
              <a:srgbClr val="15161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20320">
              <a:srgbClr val="15161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1020604" y="3045857"/>
            <a:ext cx="4106704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Entry / Impulse </a:t>
            </a:r>
            <a:r>
              <a:rPr b="1" lang="en-US" sz="2200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r>
              <a:rPr b="1" i="0" lang="en-US" sz="2200" u="none" cap="none" strike="noStrike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 The Slay</a:t>
            </a:r>
            <a:endParaRPr b="0" i="0" sz="2200" u="none" cap="none" strike="noStrike"/>
          </a:p>
        </p:txBody>
      </p:sp>
      <p:sp>
        <p:nvSpPr>
          <p:cNvPr id="134" name="Google Shape;134;p16"/>
          <p:cNvSpPr/>
          <p:nvPr/>
        </p:nvSpPr>
        <p:spPr>
          <a:xfrm>
            <a:off x="1020604" y="3536275"/>
            <a:ext cx="595431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750"/>
              <a:buFont typeface="Inconsolata"/>
              <a:buNone/>
            </a:pPr>
            <a:r>
              <a:rPr b="0" i="0" lang="en-US" sz="17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Low-cost, giftable item that delivers immediate dopamine and drives trial.</a:t>
            </a:r>
            <a:endParaRPr b="0" i="0" sz="1750" u="none" cap="none" strike="noStrike"/>
          </a:p>
        </p:txBody>
      </p:sp>
      <p:sp>
        <p:nvSpPr>
          <p:cNvPr id="135" name="Google Shape;135;p16"/>
          <p:cNvSpPr/>
          <p:nvPr/>
        </p:nvSpPr>
        <p:spPr>
          <a:xfrm>
            <a:off x="7428548" y="2252067"/>
            <a:ext cx="6408063" cy="226814"/>
          </a:xfrm>
          <a:prstGeom prst="roundRect">
            <a:avLst>
              <a:gd fmla="val 4031" name="adj"/>
            </a:avLst>
          </a:prstGeom>
          <a:solidFill>
            <a:srgbClr val="F8ECE4"/>
          </a:solidFill>
          <a:ln cap="flat" cmpd="sng" w="9525">
            <a:solidFill>
              <a:srgbClr val="15161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20320">
              <a:srgbClr val="15161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7655362" y="270569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Hero Hardware</a:t>
            </a:r>
            <a:endParaRPr b="0" i="0" sz="2200" u="none" cap="none" strike="noStrike"/>
          </a:p>
        </p:txBody>
      </p:sp>
      <p:sp>
        <p:nvSpPr>
          <p:cNvPr id="137" name="Google Shape;137;p16"/>
          <p:cNvSpPr/>
          <p:nvPr/>
        </p:nvSpPr>
        <p:spPr>
          <a:xfrm>
            <a:off x="7655362" y="3196114"/>
            <a:ext cx="5954435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750"/>
              <a:buFont typeface="Inconsolata"/>
              <a:buNone/>
            </a:pPr>
            <a:r>
              <a:rPr b="0" i="0" lang="en-US" sz="17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The Trigger, The Mark, The Stealth, The Crane — signature, high-margin pieces that define brand identity on social channels.</a:t>
            </a:r>
            <a:endParaRPr b="0" i="0" sz="1750" u="none" cap="none" strike="noStrike"/>
          </a:p>
        </p:txBody>
      </p:sp>
      <p:sp>
        <p:nvSpPr>
          <p:cNvPr id="138" name="Google Shape;138;p16"/>
          <p:cNvSpPr/>
          <p:nvPr/>
        </p:nvSpPr>
        <p:spPr>
          <a:xfrm>
            <a:off x="793790" y="5078611"/>
            <a:ext cx="6407944" cy="226814"/>
          </a:xfrm>
          <a:prstGeom prst="roundRect">
            <a:avLst>
              <a:gd fmla="val 4031" name="adj"/>
            </a:avLst>
          </a:prstGeom>
          <a:solidFill>
            <a:srgbClr val="F8ECE4"/>
          </a:solidFill>
          <a:ln cap="flat" cmpd="sng" w="9525">
            <a:solidFill>
              <a:srgbClr val="15161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20320">
              <a:srgbClr val="15161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1020604" y="553223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IoT &amp; Networking</a:t>
            </a:r>
            <a:endParaRPr b="0" i="0" sz="2200" u="none" cap="none" strike="noStrike"/>
          </a:p>
        </p:txBody>
      </p:sp>
      <p:sp>
        <p:nvSpPr>
          <p:cNvPr id="140" name="Google Shape;140;p16"/>
          <p:cNvSpPr/>
          <p:nvPr/>
        </p:nvSpPr>
        <p:spPr>
          <a:xfrm>
            <a:off x="1020604" y="6022658"/>
            <a:ext cx="595431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750"/>
              <a:buFont typeface="Inconsolata"/>
              <a:buNone/>
            </a:pPr>
            <a:r>
              <a:rPr b="0" i="0" lang="en-US" sz="17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SlickTek One NFC Card &amp; Zip-Tap Wallet act as trojan horses into business ecosystems and events.</a:t>
            </a:r>
            <a:endParaRPr b="0" i="0" sz="1750" u="none" cap="none" strike="noStrike"/>
          </a:p>
        </p:txBody>
      </p:sp>
      <p:sp>
        <p:nvSpPr>
          <p:cNvPr id="141" name="Google Shape;141;p16"/>
          <p:cNvSpPr/>
          <p:nvPr/>
        </p:nvSpPr>
        <p:spPr>
          <a:xfrm>
            <a:off x="7428548" y="4738449"/>
            <a:ext cx="6408063" cy="226814"/>
          </a:xfrm>
          <a:prstGeom prst="roundRect">
            <a:avLst>
              <a:gd fmla="val 4031" name="adj"/>
            </a:avLst>
          </a:prstGeom>
          <a:solidFill>
            <a:srgbClr val="F8ECE4"/>
          </a:solidFill>
          <a:ln cap="flat" cmpd="sng" w="9525">
            <a:solidFill>
              <a:srgbClr val="15161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20320">
              <a:srgbClr val="15161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7655362" y="519207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Lock-in </a:t>
            </a:r>
            <a:r>
              <a:rPr b="1" lang="en-US" sz="2200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  <a:r>
              <a:rPr b="1" i="0" lang="en-US" sz="2200" u="none" cap="none" strike="noStrike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 SaaS</a:t>
            </a:r>
            <a:endParaRPr b="0" i="0" sz="2200" u="none" cap="none" strike="noStrike"/>
          </a:p>
        </p:txBody>
      </p:sp>
      <p:sp>
        <p:nvSpPr>
          <p:cNvPr id="143" name="Google Shape;143;p16"/>
          <p:cNvSpPr/>
          <p:nvPr/>
        </p:nvSpPr>
        <p:spPr>
          <a:xfrm>
            <a:off x="7655362" y="5682496"/>
            <a:ext cx="5954435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750"/>
              <a:buFont typeface="Inconsolata"/>
              <a:buNone/>
            </a:pPr>
            <a:r>
              <a:rPr b="0" i="0" lang="en-US" sz="17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SlickTek One subscription drives recurring revenue and multiplies LTV through profile upgrades and team plans.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7"/>
          <p:cNvSpPr/>
          <p:nvPr/>
        </p:nvSpPr>
        <p:spPr>
          <a:xfrm>
            <a:off x="902732" y="834747"/>
            <a:ext cx="6648569" cy="464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62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900"/>
              <a:buFont typeface="Montserrat"/>
              <a:buNone/>
            </a:pPr>
            <a:r>
              <a:rPr b="1" i="0" lang="en-US" sz="2900" u="none" cap="none" strike="noStrike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Content &amp; Go-to-Market Strategy</a:t>
            </a:r>
            <a:endParaRPr b="0" i="0" sz="2900" u="none" cap="none" strike="noStrike"/>
          </a:p>
        </p:txBody>
      </p:sp>
      <p:sp>
        <p:nvSpPr>
          <p:cNvPr id="150" name="Google Shape;150;p17"/>
          <p:cNvSpPr/>
          <p:nvPr/>
        </p:nvSpPr>
        <p:spPr>
          <a:xfrm>
            <a:off x="768906" y="1527691"/>
            <a:ext cx="4461629" cy="5867043"/>
          </a:xfrm>
          <a:prstGeom prst="roundRect">
            <a:avLst>
              <a:gd fmla="val 205" name="adj"/>
            </a:avLst>
          </a:prstGeom>
          <a:solidFill>
            <a:srgbClr val="E2C2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954762" y="1679972"/>
            <a:ext cx="2323267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800"/>
              <a:buFont typeface="Montserrat Black"/>
              <a:buNone/>
            </a:pPr>
            <a:r>
              <a:rPr b="1" i="0" lang="en-US" sz="180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Creative Direction</a:t>
            </a:r>
            <a:endParaRPr b="0" i="0" sz="1800" u="none" cap="none" strike="noStrike"/>
          </a:p>
        </p:txBody>
      </p:sp>
      <p:sp>
        <p:nvSpPr>
          <p:cNvPr id="152" name="Google Shape;152;p17"/>
          <p:cNvSpPr/>
          <p:nvPr/>
        </p:nvSpPr>
        <p:spPr>
          <a:xfrm>
            <a:off x="954762" y="2122527"/>
            <a:ext cx="4089916" cy="270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827"/>
              </a:lnSpc>
              <a:spcBef>
                <a:spcPts val="0"/>
              </a:spcBef>
              <a:spcAft>
                <a:spcPts val="0"/>
              </a:spcAft>
              <a:buSzPts val="1450"/>
              <a:buFont typeface="Arial"/>
              <a:buNone/>
            </a:pPr>
            <a:r>
              <a:t/>
            </a:r>
            <a:endParaRPr b="0" i="0" sz="1450" u="none" cap="none" strike="noStrike"/>
          </a:p>
        </p:txBody>
      </p:sp>
      <p:sp>
        <p:nvSpPr>
          <p:cNvPr id="153" name="Google Shape;153;p17"/>
          <p:cNvSpPr/>
          <p:nvPr/>
        </p:nvSpPr>
        <p:spPr>
          <a:xfrm>
            <a:off x="954762" y="2530078"/>
            <a:ext cx="4089916" cy="270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827"/>
              </a:lnSpc>
              <a:spcBef>
                <a:spcPts val="0"/>
              </a:spcBef>
              <a:spcAft>
                <a:spcPts val="0"/>
              </a:spcAft>
              <a:buSzPts val="1450"/>
              <a:buFont typeface="Arial"/>
              <a:buNone/>
            </a:pPr>
            <a:r>
              <a:t/>
            </a:r>
            <a:endParaRPr b="0" i="0" sz="1450" u="none" cap="none" strike="noStrike"/>
          </a:p>
        </p:txBody>
      </p:sp>
      <p:sp>
        <p:nvSpPr>
          <p:cNvPr id="154" name="Google Shape;154;p17"/>
          <p:cNvSpPr/>
          <p:nvPr/>
        </p:nvSpPr>
        <p:spPr>
          <a:xfrm>
            <a:off x="954762" y="2937629"/>
            <a:ext cx="4089916" cy="270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827"/>
              </a:lnSpc>
              <a:spcBef>
                <a:spcPts val="0"/>
              </a:spcBef>
              <a:spcAft>
                <a:spcPts val="0"/>
              </a:spcAft>
              <a:buSzPts val="1450"/>
              <a:buFont typeface="Arial"/>
              <a:buNone/>
            </a:pPr>
            <a:r>
              <a:t/>
            </a:r>
            <a:endParaRPr b="0" i="0" sz="1450" u="none" cap="none" strike="noStrike"/>
          </a:p>
        </p:txBody>
      </p:sp>
      <p:sp>
        <p:nvSpPr>
          <p:cNvPr id="155" name="Google Shape;155;p17"/>
          <p:cNvSpPr/>
          <p:nvPr/>
        </p:nvSpPr>
        <p:spPr>
          <a:xfrm>
            <a:off x="954762" y="3345180"/>
            <a:ext cx="4089916" cy="270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827"/>
              </a:lnSpc>
              <a:spcBef>
                <a:spcPts val="0"/>
              </a:spcBef>
              <a:spcAft>
                <a:spcPts val="0"/>
              </a:spcAft>
              <a:buSzPts val="1450"/>
              <a:buFont typeface="Arial"/>
              <a:buNone/>
            </a:pPr>
            <a:r>
              <a:t/>
            </a:r>
            <a:endParaRPr b="0" i="0" sz="1450" u="none" cap="none" strike="noStrike"/>
          </a:p>
        </p:txBody>
      </p:sp>
      <p:sp>
        <p:nvSpPr>
          <p:cNvPr id="156" name="Google Shape;156;p17"/>
          <p:cNvSpPr/>
          <p:nvPr/>
        </p:nvSpPr>
        <p:spPr>
          <a:xfrm>
            <a:off x="954762" y="3767971"/>
            <a:ext cx="2323267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800"/>
              <a:buFont typeface="Montserrat Black"/>
              <a:buNone/>
            </a:pPr>
            <a:r>
              <a:rPr b="1" i="0" lang="en-US" sz="180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“Show, don’t tell”</a:t>
            </a:r>
            <a:endParaRPr b="0" i="0" sz="1800" u="none" cap="none" strike="noStrike"/>
          </a:p>
        </p:txBody>
      </p:sp>
      <p:sp>
        <p:nvSpPr>
          <p:cNvPr id="157" name="Google Shape;157;p17"/>
          <p:cNvSpPr/>
          <p:nvPr/>
        </p:nvSpPr>
        <p:spPr>
          <a:xfrm>
            <a:off x="954762" y="4119086"/>
            <a:ext cx="4089916" cy="870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800"/>
              <a:buFont typeface="Montserrat Black"/>
              <a:buNone/>
            </a:pPr>
            <a:r>
              <a:rPr b="1" i="0" lang="en-US" sz="180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sensory-led content emphasizing ASMR, tactile clicks, and the visual ritual of setup/unboxing.</a:t>
            </a:r>
            <a:endParaRPr b="0" i="0" sz="1800" u="none" cap="none" strike="noStrike"/>
          </a:p>
        </p:txBody>
      </p:sp>
      <p:pic>
        <p:nvPicPr>
          <p:cNvPr descr="preencoded.png" id="158" name="Google Shape;15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57718" y="1699022"/>
            <a:ext cx="464582" cy="46458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/>
          <p:nvPr/>
        </p:nvSpPr>
        <p:spPr>
          <a:xfrm>
            <a:off x="5557718" y="2353866"/>
            <a:ext cx="2323267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Platform Mix</a:t>
            </a:r>
            <a:endParaRPr b="0" i="0" sz="1800" u="none" cap="none" strike="noStrike"/>
          </a:p>
        </p:txBody>
      </p:sp>
      <p:sp>
        <p:nvSpPr>
          <p:cNvPr id="160" name="Google Shape;160;p17"/>
          <p:cNvSpPr/>
          <p:nvPr/>
        </p:nvSpPr>
        <p:spPr>
          <a:xfrm>
            <a:off x="5557718" y="2796421"/>
            <a:ext cx="8177332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82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450"/>
              <a:buFont typeface="Inconsolata"/>
              <a:buNone/>
            </a:pPr>
            <a:r>
              <a:rPr b="0" i="0" lang="en-US" sz="14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Instagram &amp; YouTube for aspirational desk setups. TikTok/Reels for ASMR micro-moments. LinkedIn for B2B NFC adoption.</a:t>
            </a:r>
            <a:endParaRPr b="0" i="0" sz="1450" u="none" cap="none" strike="noStrike"/>
          </a:p>
        </p:txBody>
      </p:sp>
      <p:pic>
        <p:nvPicPr>
          <p:cNvPr descr="preencoded.png" id="161" name="Google Shape;16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57718" y="3642003"/>
            <a:ext cx="464582" cy="46458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/>
          <p:nvPr/>
        </p:nvSpPr>
        <p:spPr>
          <a:xfrm>
            <a:off x="5557718" y="4296847"/>
            <a:ext cx="2323267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Conversion Plays</a:t>
            </a:r>
            <a:endParaRPr b="0" i="0" sz="1800" u="none" cap="none" strike="noStrike"/>
          </a:p>
        </p:txBody>
      </p:sp>
      <p:sp>
        <p:nvSpPr>
          <p:cNvPr id="163" name="Google Shape;163;p17"/>
          <p:cNvSpPr/>
          <p:nvPr/>
        </p:nvSpPr>
        <p:spPr>
          <a:xfrm>
            <a:off x="5557718" y="4739402"/>
            <a:ext cx="8177332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82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450"/>
              <a:buFont typeface="Inconsolata"/>
              <a:buNone/>
            </a:pPr>
            <a:r>
              <a:rPr b="0" i="0" lang="en-US" sz="14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Creator bundles, affiliate seeding, and LinkedIn targeting for HR/Sales to drive bulk NFC orders.</a:t>
            </a:r>
            <a:endParaRPr b="0" i="0" sz="1450" u="none" cap="none" strike="noStrike"/>
          </a:p>
        </p:txBody>
      </p:sp>
      <p:pic>
        <p:nvPicPr>
          <p:cNvPr descr="preencoded.png" id="164" name="Google Shape;16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57718" y="5584984"/>
            <a:ext cx="464582" cy="464582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/>
          <p:nvPr/>
        </p:nvSpPr>
        <p:spPr>
          <a:xfrm>
            <a:off x="5557718" y="6239827"/>
            <a:ext cx="2323267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Messaging</a:t>
            </a:r>
            <a:endParaRPr b="0" i="0" sz="1800" u="none" cap="none" strike="noStrike"/>
          </a:p>
        </p:txBody>
      </p:sp>
      <p:sp>
        <p:nvSpPr>
          <p:cNvPr id="166" name="Google Shape;166;p17"/>
          <p:cNvSpPr/>
          <p:nvPr/>
        </p:nvSpPr>
        <p:spPr>
          <a:xfrm>
            <a:off x="5557718" y="6682383"/>
            <a:ext cx="8177332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82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450"/>
              <a:buFont typeface="Inconsolata"/>
              <a:buNone/>
            </a:pPr>
            <a:r>
              <a:rPr b="0" i="0" lang="en-US" sz="14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Frictionless network exchange, tactile focus tools, and status-forward design — lead with utility, close with prestige.</a:t>
            </a:r>
            <a:endParaRPr b="0" i="0" sz="145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8"/>
          <p:cNvSpPr/>
          <p:nvPr/>
        </p:nvSpPr>
        <p:spPr>
          <a:xfrm>
            <a:off x="740331" y="683181"/>
            <a:ext cx="6357699" cy="5288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5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3300"/>
              <a:buFont typeface="Montserrat"/>
              <a:buNone/>
            </a:pPr>
            <a:r>
              <a:rPr b="1" i="0" lang="en-US" sz="3300" u="none" cap="none" strike="noStrike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90-Day Execution Roadmap</a:t>
            </a:r>
            <a:endParaRPr b="0" i="0" sz="3300" u="none" cap="none" strike="noStrike"/>
          </a:p>
        </p:txBody>
      </p:sp>
      <p:pic>
        <p:nvPicPr>
          <p:cNvPr descr="preencoded.png" id="173" name="Google Shape;17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0331" y="1633061"/>
            <a:ext cx="211455" cy="21145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/>
          <p:nvPr/>
        </p:nvSpPr>
        <p:spPr>
          <a:xfrm>
            <a:off x="740331" y="1943219"/>
            <a:ext cx="4251722" cy="22860"/>
          </a:xfrm>
          <a:prstGeom prst="rect">
            <a:avLst/>
          </a:prstGeom>
          <a:solidFill>
            <a:srgbClr val="1516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8"/>
          <p:cNvSpPr/>
          <p:nvPr/>
        </p:nvSpPr>
        <p:spPr>
          <a:xfrm>
            <a:off x="740331" y="2094667"/>
            <a:ext cx="4251722" cy="661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050"/>
              <a:buFont typeface="Montserrat"/>
              <a:buNone/>
            </a:pPr>
            <a:r>
              <a:rPr b="1" i="0" lang="en-US" sz="2050" u="none" cap="none" strike="noStrike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Days 1–30: B2B Corporate Gifting</a:t>
            </a:r>
            <a:endParaRPr b="0" i="0" sz="2050" u="none" cap="none" strike="noStrike"/>
          </a:p>
        </p:txBody>
      </p:sp>
      <p:sp>
        <p:nvSpPr>
          <p:cNvPr id="176" name="Google Shape;176;p18"/>
          <p:cNvSpPr/>
          <p:nvPr/>
        </p:nvSpPr>
        <p:spPr>
          <a:xfrm>
            <a:off x="740331" y="2874050"/>
            <a:ext cx="4251722" cy="981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650"/>
              <a:buFont typeface="Inconsolata"/>
              <a:buNone/>
            </a:pPr>
            <a:r>
              <a:rPr b="0" i="0" lang="en-US" sz="16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Target HR &amp; Sales Directors with custom-branded NFC bundles to drive bulk hardware sales and mass SaaS onboarding.</a:t>
            </a:r>
            <a:endParaRPr b="0" i="0" sz="1650" u="none" cap="none" strike="noStrike"/>
          </a:p>
        </p:txBody>
      </p:sp>
      <p:pic>
        <p:nvPicPr>
          <p:cNvPr descr="preencoded.png" id="177" name="Google Shape;17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89339" y="1633061"/>
            <a:ext cx="211455" cy="21145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5189339" y="1943219"/>
            <a:ext cx="4251722" cy="22860"/>
          </a:xfrm>
          <a:prstGeom prst="rect">
            <a:avLst/>
          </a:prstGeom>
          <a:solidFill>
            <a:srgbClr val="1516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8"/>
          <p:cNvSpPr/>
          <p:nvPr/>
        </p:nvSpPr>
        <p:spPr>
          <a:xfrm>
            <a:off x="5189339" y="2094667"/>
            <a:ext cx="4251722" cy="661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050"/>
              <a:buFont typeface="Montserrat"/>
              <a:buNone/>
            </a:pPr>
            <a:r>
              <a:rPr b="1" i="0" lang="en-US" sz="2050" u="none" cap="none" strike="noStrike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Days 30–60: Influencer Seeding &amp; Affiliate</a:t>
            </a:r>
            <a:endParaRPr b="0" i="0" sz="2050" u="none" cap="none" strike="noStrike"/>
          </a:p>
        </p:txBody>
      </p:sp>
      <p:sp>
        <p:nvSpPr>
          <p:cNvPr id="180" name="Google Shape;180;p18"/>
          <p:cNvSpPr/>
          <p:nvPr/>
        </p:nvSpPr>
        <p:spPr>
          <a:xfrm>
            <a:off x="5189339" y="2874050"/>
            <a:ext cx="4251722" cy="13082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650"/>
              <a:buFont typeface="Inconsolata"/>
              <a:buNone/>
            </a:pPr>
            <a:r>
              <a:rPr b="0" i="0" lang="en-US" sz="16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Seed the Creator Bundle to top 50 desk-setup &amp; productivity creators to generate high-quality organic B-roll and affiliate conversions.</a:t>
            </a:r>
            <a:endParaRPr b="0" i="0" sz="1650" u="none" cap="none" strike="noStrike"/>
          </a:p>
        </p:txBody>
      </p:sp>
      <p:pic>
        <p:nvPicPr>
          <p:cNvPr descr="preencoded.png" id="181" name="Google Shape;18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38348" y="1633061"/>
            <a:ext cx="211455" cy="21145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8"/>
          <p:cNvSpPr/>
          <p:nvPr/>
        </p:nvSpPr>
        <p:spPr>
          <a:xfrm>
            <a:off x="9638348" y="1943219"/>
            <a:ext cx="4251722" cy="22860"/>
          </a:xfrm>
          <a:prstGeom prst="rect">
            <a:avLst/>
          </a:prstGeom>
          <a:solidFill>
            <a:srgbClr val="1516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8"/>
          <p:cNvSpPr/>
          <p:nvPr/>
        </p:nvSpPr>
        <p:spPr>
          <a:xfrm>
            <a:off x="9638348" y="2094667"/>
            <a:ext cx="4251722" cy="661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050"/>
              <a:buFont typeface="Montserrat"/>
              <a:buNone/>
            </a:pPr>
            <a:r>
              <a:rPr b="1" i="0" lang="en-US" sz="2050" u="none" cap="none" strike="noStrike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Days 60–90: Cart Value Optimization</a:t>
            </a:r>
            <a:endParaRPr b="0" i="0" sz="2050" u="none" cap="none" strike="noStrike"/>
          </a:p>
        </p:txBody>
      </p:sp>
      <p:sp>
        <p:nvSpPr>
          <p:cNvPr id="184" name="Google Shape;184;p18"/>
          <p:cNvSpPr/>
          <p:nvPr/>
        </p:nvSpPr>
        <p:spPr>
          <a:xfrm>
            <a:off x="9638348" y="2874050"/>
            <a:ext cx="4251722" cy="16353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650"/>
              <a:buFont typeface="Inconsolata"/>
              <a:buNone/>
            </a:pPr>
            <a:r>
              <a:rPr b="0" i="0" lang="en-US" sz="16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Optimize checkout UX, offer “Free First Year of SaaS” with NFC purchases, and use The Slay as a threshold freebie to lift AOV by ~20% and increase SaaS uptake.</a:t>
            </a:r>
            <a:endParaRPr b="0" i="0" sz="1650" u="none" cap="none" strike="noStrike"/>
          </a:p>
        </p:txBody>
      </p:sp>
      <p:sp>
        <p:nvSpPr>
          <p:cNvPr id="185" name="Google Shape;185;p18"/>
          <p:cNvSpPr/>
          <p:nvPr/>
        </p:nvSpPr>
        <p:spPr>
          <a:xfrm>
            <a:off x="740331" y="4995648"/>
            <a:ext cx="13149739" cy="34052"/>
          </a:xfrm>
          <a:prstGeom prst="rect">
            <a:avLst/>
          </a:prstGeom>
          <a:solidFill>
            <a:srgbClr val="151617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8"/>
          <p:cNvSpPr/>
          <p:nvPr/>
        </p:nvSpPr>
        <p:spPr>
          <a:xfrm>
            <a:off x="740331" y="5251609"/>
            <a:ext cx="6476167" cy="2294692"/>
          </a:xfrm>
          <a:prstGeom prst="roundRect">
            <a:avLst>
              <a:gd fmla="val 398" name="adj"/>
            </a:avLst>
          </a:prstGeom>
          <a:solidFill>
            <a:srgbClr val="F8ECE4"/>
          </a:solidFill>
          <a:ln cap="flat" cmpd="sng" w="22850">
            <a:solidFill>
              <a:srgbClr val="15161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9050">
              <a:srgbClr val="15161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8"/>
          <p:cNvSpPr/>
          <p:nvPr/>
        </p:nvSpPr>
        <p:spPr>
          <a:xfrm>
            <a:off x="974646" y="5485924"/>
            <a:ext cx="2644259" cy="330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050"/>
              <a:buFont typeface="Montserrat"/>
              <a:buNone/>
            </a:pPr>
            <a:r>
              <a:rPr b="1" i="0" lang="en-US" sz="2050" u="none" cap="none" strike="noStrike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Success Metrics</a:t>
            </a:r>
            <a:endParaRPr b="0" i="0" sz="2050" u="none" cap="none" strike="noStrike"/>
          </a:p>
        </p:txBody>
      </p:sp>
      <p:sp>
        <p:nvSpPr>
          <p:cNvPr id="188" name="Google Shape;188;p18"/>
          <p:cNvSpPr/>
          <p:nvPr/>
        </p:nvSpPr>
        <p:spPr>
          <a:xfrm>
            <a:off x="974646" y="5934789"/>
            <a:ext cx="6007537" cy="11190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650"/>
              <a:buFont typeface="Inconsolata"/>
              <a:buChar char="•"/>
            </a:pPr>
            <a:r>
              <a:rPr b="0" i="0" lang="en-US" sz="16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+20% AOV</a:t>
            </a:r>
            <a:endParaRPr b="0" i="0" sz="1650" u="none" cap="none" strike="noStrike"/>
          </a:p>
          <a:p>
            <a:pPr indent="-342900" lvl="0" marL="34290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650"/>
              <a:buFont typeface="Inconsolata"/>
              <a:buChar char="•"/>
            </a:pPr>
            <a:r>
              <a:rPr b="0" i="0" lang="en-US" sz="16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Baseline SaaS conversion rate target: 12–18%</a:t>
            </a:r>
            <a:endParaRPr b="0" i="0" sz="1650" u="none" cap="none" strike="noStrike"/>
          </a:p>
          <a:p>
            <a:pPr indent="-342900" lvl="0" marL="34290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650"/>
              <a:buFont typeface="Inconsolata"/>
              <a:buChar char="•"/>
            </a:pPr>
            <a:r>
              <a:rPr b="0" i="0" lang="en-US" sz="16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Bulk B2B orders: 500+ NFC units in Q1 push</a:t>
            </a:r>
            <a:endParaRPr b="0" i="0" sz="1650" u="none" cap="none" strike="noStrike"/>
          </a:p>
        </p:txBody>
      </p:sp>
      <p:sp>
        <p:nvSpPr>
          <p:cNvPr id="189" name="Google Shape;189;p18"/>
          <p:cNvSpPr/>
          <p:nvPr/>
        </p:nvSpPr>
        <p:spPr>
          <a:xfrm>
            <a:off x="7413784" y="5251609"/>
            <a:ext cx="6476286" cy="2294692"/>
          </a:xfrm>
          <a:prstGeom prst="roundRect">
            <a:avLst>
              <a:gd fmla="val 398" name="adj"/>
            </a:avLst>
          </a:prstGeom>
          <a:solidFill>
            <a:srgbClr val="F8ECE4"/>
          </a:solidFill>
          <a:ln cap="flat" cmpd="sng" w="22850">
            <a:solidFill>
              <a:srgbClr val="15161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9050">
              <a:srgbClr val="15161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8"/>
          <p:cNvSpPr/>
          <p:nvPr/>
        </p:nvSpPr>
        <p:spPr>
          <a:xfrm>
            <a:off x="7648099" y="5485924"/>
            <a:ext cx="2750582" cy="330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050"/>
              <a:buFont typeface="Montserrat"/>
              <a:buNone/>
            </a:pPr>
            <a:r>
              <a:rPr b="1" i="0" lang="en-US" sz="2050" u="none" cap="none" strike="noStrike">
                <a:solidFill>
                  <a:srgbClr val="151617"/>
                </a:solidFill>
                <a:latin typeface="Montserrat"/>
                <a:ea typeface="Montserrat"/>
                <a:cs typeface="Montserrat"/>
                <a:sym typeface="Montserrat"/>
              </a:rPr>
              <a:t>Risks &amp; Mitigations</a:t>
            </a:r>
            <a:endParaRPr b="0" i="0" sz="2050" u="none" cap="none" strike="noStrike"/>
          </a:p>
        </p:txBody>
      </p:sp>
      <p:sp>
        <p:nvSpPr>
          <p:cNvPr id="191" name="Google Shape;191;p18"/>
          <p:cNvSpPr/>
          <p:nvPr/>
        </p:nvSpPr>
        <p:spPr>
          <a:xfrm>
            <a:off x="7648099" y="5934789"/>
            <a:ext cx="6007656" cy="1377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650"/>
              <a:buFont typeface="Inconsolata"/>
              <a:buChar char="•"/>
            </a:pPr>
            <a:r>
              <a:rPr b="0" i="0" lang="en-US" sz="16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Perception risk — mitigate via premium creative and influencer proof.</a:t>
            </a:r>
            <a:endParaRPr b="0" i="0" sz="1650" u="none" cap="none" strike="noStrike"/>
          </a:p>
          <a:p>
            <a:pPr indent="-342900" lvl="0" marL="34290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650"/>
              <a:buFont typeface="Inconsolata"/>
              <a:buChar char="•"/>
            </a:pPr>
            <a:r>
              <a:rPr b="0" i="0" lang="en-US" sz="16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Onboarding friction — simplified NFC activation flow and one-click profile creation.</a:t>
            </a:r>
            <a:endParaRPr b="0" i="0" sz="16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