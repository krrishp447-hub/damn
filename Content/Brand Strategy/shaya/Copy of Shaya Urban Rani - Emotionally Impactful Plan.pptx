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Cormorant Garamond SemiBold"/>
      <p:regular r:id="rId17"/>
      <p:bold r:id="rId18"/>
      <p:italic r:id="rId19"/>
      <p:boldItalic r:id="rId20"/>
    </p:embeddedFont>
    <p:embeddedFont>
      <p:font typeface="Cormorant Garamond"/>
      <p:regular r:id="rId21"/>
      <p:bold r:id="rId22"/>
      <p:italic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Montserrat Ligh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1C14528-B806-4C5E-95C1-01C8948E9436}">
  <a:tblStyle styleId="{B1C14528-B806-4C5E-95C1-01C8948E943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rmorantGaramondSemiBold-boldItalic.fntdata"/><Relationship Id="rId22" Type="http://schemas.openxmlformats.org/officeDocument/2006/relationships/font" Target="fonts/CormorantGaramond-bold.fntdata"/><Relationship Id="rId21" Type="http://schemas.openxmlformats.org/officeDocument/2006/relationships/font" Target="fonts/CormorantGaramond-regular.fntdata"/><Relationship Id="rId24" Type="http://schemas.openxmlformats.org/officeDocument/2006/relationships/font" Target="fonts/CormorantGaramond-boldItalic.fntdata"/><Relationship Id="rId23" Type="http://schemas.openxmlformats.org/officeDocument/2006/relationships/font" Target="fonts/CormorantGaramon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Ligh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Light-italic.fntdata"/><Relationship Id="rId30" Type="http://schemas.openxmlformats.org/officeDocument/2006/relationships/font" Target="fonts/MontserratLight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MontserratLight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CormorantGaramondSemiBold-regular.fntdata"/><Relationship Id="rId16" Type="http://schemas.openxmlformats.org/officeDocument/2006/relationships/slide" Target="slides/slide10.xml"/><Relationship Id="rId19" Type="http://schemas.openxmlformats.org/officeDocument/2006/relationships/font" Target="fonts/CormorantGaramondSemiBold-italic.fntdata"/><Relationship Id="rId18" Type="http://schemas.openxmlformats.org/officeDocument/2006/relationships/font" Target="fonts/CormorantGaramond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23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F5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0775" y="1778347"/>
            <a:ext cx="7410450" cy="330130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815589" y="2359372"/>
            <a:ext cx="656082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6000" u="none" cap="none" strike="noStrike">
                <a:solidFill>
                  <a:srgbClr val="F4F1EA"/>
                </a:solidFill>
                <a:latin typeface="Cormorant Garamond SemiBold"/>
                <a:ea typeface="Cormorant Garamond SemiBold"/>
                <a:cs typeface="Cormorant Garamond SemiBold"/>
                <a:sym typeface="Cormorant Garamond SemiBold"/>
              </a:rPr>
              <a:t>The Urban Rani Series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71800" y="3340447"/>
            <a:ext cx="62484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4AF3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STORIES OF GENERATIONAL GRIT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971800" y="4052887"/>
            <a:ext cx="62484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 Marketing Plan for Shaya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F59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011834"/>
            <a:ext cx="5229225" cy="27485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011834"/>
            <a:ext cx="5229225" cy="274855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71550" y="3402359"/>
            <a:ext cx="4670583" cy="196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9CA3AF"/>
                </a:solidFill>
                <a:latin typeface="Cormorant Garamond SemiBold"/>
                <a:ea typeface="Cormorant Garamond SemiBold"/>
                <a:cs typeface="Cormorant Garamond SemiBold"/>
                <a:sym typeface="Cormorant Garamond SemiBold"/>
              </a:rPr>
              <a:t>The Legacy of the Past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71550" y="3788866"/>
            <a:ext cx="44481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History is about what </a:t>
            </a:r>
            <a:r>
              <a:rPr b="0" i="1" lang="en-US" sz="135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was</a:t>
            </a:r>
            <a:r>
              <a:rPr b="0" i="0" lang="en-US" sz="135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71550" y="4234606"/>
            <a:ext cx="44481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It's delicate silks, temple walls, and a queen you admire from a distance.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71550" y="4973687"/>
            <a:ext cx="44481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Key Emotion: Nostalgia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72275" y="3402359"/>
            <a:ext cx="4670583" cy="196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D4AF37"/>
                </a:solidFill>
                <a:latin typeface="Cormorant Garamond SemiBold"/>
                <a:ea typeface="Cormorant Garamond SemiBold"/>
                <a:cs typeface="Cormorant Garamond SemiBold"/>
                <a:sym typeface="Cormorant Garamond SemiBold"/>
              </a:rPr>
              <a:t>The Grit of Today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72275" y="3788866"/>
            <a:ext cx="44481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Legacy is about what you build now.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72275" y="4234606"/>
            <a:ext cx="44481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It's concrete, sweat, rhythm, and the strength you carry every single day.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772275" y="4973687"/>
            <a:ext cx="44481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AF3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Key Emotion: Empowerment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305276" y="581025"/>
            <a:ext cx="11581447" cy="706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4F1EA"/>
                </a:solidFill>
                <a:latin typeface="Cormorant Garamond SemiBold"/>
                <a:ea typeface="Cormorant Garamond SemiBold"/>
                <a:cs typeface="Cormorant Garamond SemiBold"/>
                <a:sym typeface="Cormorant Garamond SemiBold"/>
              </a:rPr>
              <a:t>From Palace to Pavement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2995612" y="1744860"/>
            <a:ext cx="62007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We are shifting the narrative from "Royal History" to "Modern Resilience".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810250" y="1430535"/>
            <a:ext cx="5715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F59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" y="4435822"/>
            <a:ext cx="3467100" cy="1798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62450" y="4435822"/>
            <a:ext cx="3467100" cy="1798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34350" y="4435822"/>
            <a:ext cx="3467100" cy="17981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0550" y="2443013"/>
            <a:ext cx="346710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62450" y="2443013"/>
            <a:ext cx="346710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34350" y="2443013"/>
            <a:ext cx="34671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81050" y="4626322"/>
            <a:ext cx="30861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4AF3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The Creator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81050" y="5150197"/>
            <a:ext cx="3086100" cy="740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An Architect who finds beauty in raw structure.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1200" u="none" cap="none" strike="noStrike">
                <a:solidFill>
                  <a:srgbClr val="D4AF37"/>
                </a:solidFill>
                <a:latin typeface="Montserrat"/>
                <a:ea typeface="Montserrat"/>
                <a:cs typeface="Montserrat"/>
                <a:sym typeface="Montserrat"/>
              </a:rPr>
              <a:t>"Built to Create"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552950" y="4626322"/>
            <a:ext cx="30861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4AF3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The Voice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552950" y="5150197"/>
            <a:ext cx="3086100" cy="740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 Drummer who commands the room with rhythm.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1200" u="none" cap="none" strike="noStrike">
                <a:solidFill>
                  <a:srgbClr val="D4AF37"/>
                </a:solidFill>
                <a:latin typeface="Montserrat"/>
                <a:ea typeface="Montserrat"/>
                <a:cs typeface="Montserrat"/>
                <a:sym typeface="Montserrat"/>
              </a:rPr>
              <a:t>"Built to Rule"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324850" y="4626322"/>
            <a:ext cx="30861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4AF37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The Fighter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324850" y="5150197"/>
            <a:ext cx="3086100" cy="740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 Wrestler who turns struggle into strength.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1200" u="none" cap="none" strike="noStrike">
                <a:solidFill>
                  <a:srgbClr val="D4AF37"/>
                </a:solidFill>
                <a:latin typeface="Montserrat"/>
                <a:ea typeface="Montserrat"/>
                <a:cs typeface="Montserrat"/>
                <a:sym typeface="Montserrat"/>
              </a:rPr>
              <a:t>"Built to Last"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305276" y="581025"/>
            <a:ext cx="11581447" cy="706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4F1EA"/>
                </a:solidFill>
                <a:latin typeface="Cormorant Garamond SemiBold"/>
                <a:ea typeface="Cormorant Garamond SemiBold"/>
                <a:cs typeface="Cormorant Garamond SemiBold"/>
                <a:sym typeface="Cormorant Garamond SemiBold"/>
              </a:rPr>
              <a:t>The Women Who Build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638675" y="1744860"/>
            <a:ext cx="29146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Three personas. One shared spirit.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810250" y="1430535"/>
            <a:ext cx="5715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F59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2" name="Google Shape;132;p16"/>
          <p:cNvGraphicFramePr/>
          <p:nvPr/>
        </p:nvGraphicFramePr>
        <p:xfrm>
          <a:off x="581025" y="21507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{B1C14528-B806-4C5E-95C1-01C8948E9436}</a:tableStyleId>
              </a:tblPr>
              <a:tblGrid>
                <a:gridCol w="1792925"/>
                <a:gridCol w="3409500"/>
                <a:gridCol w="2906750"/>
                <a:gridCol w="2920750"/>
              </a:tblGrid>
              <a:tr h="93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Persona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The Atmosphere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The Look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Key Prop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Architect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Dusty construction site.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        Unfinished concrete.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Power Dressing.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        Blazer over jewelry.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Blueprints &amp; Stone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3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Drummer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Soundproof garage.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        Cables and chaos.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Rock chic.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        Leather &amp; Denim.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Broken Drumsticks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3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Wrestler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Old-school gym.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        Haze and sweat.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Raw athletic.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        Sports bra &amp; Tape.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Heavy Chains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3" name="Google Shape;133;p16"/>
          <p:cNvSpPr/>
          <p:nvPr/>
        </p:nvSpPr>
        <p:spPr>
          <a:xfrm>
            <a:off x="581025" y="2710755"/>
            <a:ext cx="179293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2373957" y="2710755"/>
            <a:ext cx="340950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783460" y="2710755"/>
            <a:ext cx="290676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8690223" y="2710755"/>
            <a:ext cx="292075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305276" y="581025"/>
            <a:ext cx="11581447" cy="706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4F1EA"/>
                </a:solidFill>
                <a:latin typeface="Cormorant Garamond SemiBold"/>
                <a:ea typeface="Cormorant Garamond SemiBold"/>
                <a:cs typeface="Cormorant Garamond SemiBold"/>
                <a:sym typeface="Cormorant Garamond SemiBold"/>
              </a:rPr>
              <a:t>Setting the Scene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810250" y="1430535"/>
            <a:ext cx="5715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F59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/>
          <p:nvPr/>
        </p:nvSpPr>
        <p:spPr>
          <a:xfrm>
            <a:off x="1904553" y="3666232"/>
            <a:ext cx="8382892" cy="95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1792262" y="5153769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517605" y="3923407"/>
            <a:ext cx="2663614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rmorant Garamond SemiBold"/>
                <a:ea typeface="Cormorant Garamond SemiBold"/>
                <a:cs typeface="Cormorant Garamond SemiBold"/>
                <a:sym typeface="Cormorant Garamond SemiBold"/>
              </a:rPr>
              <a:t>Preparation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81025" y="4270027"/>
            <a:ext cx="25367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Wrestler tapes her hands. She bites the tape.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200" u="none" cap="none" strike="noStrike">
                <a:solidFill>
                  <a:srgbClr val="D4AF3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Intensity.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4623271" y="5153769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3348614" y="3923407"/>
            <a:ext cx="2663614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rmorant Garamond SemiBold"/>
                <a:ea typeface="Cormorant Garamond SemiBold"/>
                <a:cs typeface="Cormorant Garamond SemiBold"/>
                <a:sym typeface="Cormorant Garamond SemiBold"/>
              </a:rPr>
              <a:t>Creation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3412033" y="4270027"/>
            <a:ext cx="25367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Architect slams blueprints on concrete. Dust flies.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200" u="none" cap="none" strike="noStrike">
                <a:solidFill>
                  <a:srgbClr val="D4AF3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Impact.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7454279" y="5153769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6179622" y="3923407"/>
            <a:ext cx="2663614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rmorant Garamond SemiBold"/>
                <a:ea typeface="Cormorant Garamond SemiBold"/>
                <a:cs typeface="Cormorant Garamond SemiBold"/>
                <a:sym typeface="Cormorant Garamond SemiBold"/>
              </a:rPr>
              <a:t>Expression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243042" y="4270027"/>
            <a:ext cx="25367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Drummer strikes the cymbal. The jewelry vibrates.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200" u="none" cap="none" strike="noStrike">
                <a:solidFill>
                  <a:srgbClr val="D4AF3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Rhythm.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10285288" y="5153769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9010631" y="3923407"/>
            <a:ext cx="2663614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ormorant Garamond SemiBold"/>
                <a:ea typeface="Cormorant Garamond SemiBold"/>
                <a:cs typeface="Cormorant Garamond SemiBold"/>
                <a:sym typeface="Cormorant Garamond SemiBold"/>
              </a:rPr>
              <a:t>Legacy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074050" y="4270027"/>
            <a:ext cx="2536775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Oxidized silver resting on raw concrete.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1200" u="none" cap="none" strike="noStrike">
                <a:solidFill>
                  <a:srgbClr val="D4AF3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Endurance.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305276" y="581025"/>
            <a:ext cx="11581447" cy="706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4F1EA"/>
                </a:solidFill>
                <a:latin typeface="Cormorant Garamond SemiBold"/>
                <a:ea typeface="Cormorant Garamond SemiBold"/>
                <a:cs typeface="Cormorant Garamond SemiBold"/>
                <a:sym typeface="Cormorant Garamond SemiBold"/>
              </a:rPr>
              <a:t>Moments of Resilience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4438650" y="1744860"/>
            <a:ext cx="33147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Video Flow for our Character Reels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810250" y="1430535"/>
            <a:ext cx="5715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F59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38301"/>
            <a:ext cx="11029950" cy="29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581025" y="2278260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A5F3F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Format: A fast-paced, high-energy Vertical Reel.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66775" y="3124051"/>
            <a:ext cx="762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AF37"/>
                </a:solidFill>
                <a:latin typeface="Times"/>
                <a:ea typeface="Times"/>
                <a:cs typeface="Times"/>
                <a:sym typeface="Times"/>
              </a:rPr>
              <a:t>0:00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819275" y="3124051"/>
            <a:ext cx="46577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 up of the Choker. Texture focus.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667500" y="3124051"/>
            <a:ext cx="46577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A5F3F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SFX: Heavy bass drop. 🔊 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866775" y="3600301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AF37"/>
                </a:solidFill>
                <a:latin typeface="Times"/>
                <a:ea typeface="Times"/>
                <a:cs typeface="Times"/>
                <a:sym typeface="Times"/>
              </a:rPr>
              <a:t>0:02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819275" y="3600301"/>
            <a:ext cx="46577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Walking in a subway tunnel. Leather jacket.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667500" y="3600301"/>
            <a:ext cx="46577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Text: LEGACY?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66775" y="4067026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AF37"/>
                </a:solidFill>
                <a:latin typeface="Times"/>
                <a:ea typeface="Times"/>
                <a:cs typeface="Times"/>
                <a:sym typeface="Times"/>
              </a:rPr>
              <a:t>0:05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1819275" y="4067026"/>
            <a:ext cx="46577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Flash cut: Temple Sketch (B&amp;W) ⮕ Jewelry (Color).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667500" y="4067026"/>
            <a:ext cx="46577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A5F3F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SFX: Glitch Sound. 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66775" y="4533751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AF37"/>
                </a:solidFill>
                <a:latin typeface="Times"/>
                <a:ea typeface="Times"/>
                <a:cs typeface="Times"/>
                <a:sym typeface="Times"/>
              </a:rPr>
              <a:t>0:08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1819275" y="4533751"/>
            <a:ext cx="46577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looks at camera. Adjusts ring.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667500" y="4533751"/>
            <a:ext cx="46577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Text: IT'S NOT HISTORY.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866775" y="5000476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AF37"/>
                </a:solidFill>
                <a:latin typeface="Times"/>
                <a:ea typeface="Times"/>
                <a:cs typeface="Times"/>
                <a:sym typeface="Times"/>
              </a:rPr>
              <a:t>0:15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1819275" y="5000476"/>
            <a:ext cx="46577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Montage: Laughing, Running. City Skyline.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6667500" y="5000476"/>
            <a:ext cx="46577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4AF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Text: IT'S HERSTORY. NOW.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305276" y="581025"/>
            <a:ext cx="11581447" cy="706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4F1EA"/>
                </a:solidFill>
                <a:latin typeface="Cormorant Garamond SemiBold"/>
                <a:ea typeface="Cormorant Garamond SemiBold"/>
                <a:cs typeface="Cormorant Garamond SemiBold"/>
                <a:sym typeface="Cormorant Garamond SemiBold"/>
              </a:rPr>
              <a:t>The Brand Anthem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5810250" y="1430535"/>
            <a:ext cx="5715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F59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 txBox="1"/>
          <p:nvPr/>
        </p:nvSpPr>
        <p:spPr>
          <a:xfrm>
            <a:off x="771525" y="771525"/>
            <a:ext cx="4790598" cy="1251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4F1EA"/>
                </a:solidFill>
                <a:latin typeface="Cormorant Garamond SemiBold"/>
                <a:ea typeface="Cormorant Garamond SemiBold"/>
                <a:cs typeface="Cormorant Garamond SemiBold"/>
                <a:sym typeface="Cormorant Garamond SemiBold"/>
              </a:rPr>
              <a:t>The "Glitch in Time" Grid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771525" y="2499121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 visual strategy that disrupts the scroll.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771525" y="3165871"/>
            <a:ext cx="45624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We use a </a:t>
            </a:r>
            <a:r>
              <a:rPr b="0" i="0" lang="en-US" sz="1350" u="none" cap="none" strike="noStrike">
                <a:solidFill>
                  <a:srgbClr val="E2E8F0"/>
                </a:solidFill>
                <a:latin typeface="Montserrat"/>
                <a:ea typeface="Montserrat"/>
                <a:cs typeface="Montserrat"/>
                <a:sym typeface="Montserrat"/>
              </a:rPr>
              <a:t>Triptych Layout</a:t>
            </a:r>
            <a:r>
              <a:rPr b="0" i="0" lang="en-US" sz="135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(3 posts per row) to tell a complete story:</a:t>
            </a:r>
            <a:endParaRPr/>
          </a:p>
        </p:txBody>
      </p:sp>
      <p:pic>
        <p:nvPicPr>
          <p:cNvPr descr="image.png" id="192" name="Google Shape;19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/>
          <p:nvPr/>
        </p:nvSpPr>
        <p:spPr>
          <a:xfrm>
            <a:off x="771525" y="2165746"/>
            <a:ext cx="5715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1152525" y="4171652"/>
            <a:ext cx="4181475" cy="9313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Montserrat"/>
                <a:ea typeface="Montserrat"/>
                <a:cs typeface="Montserrat"/>
                <a:sym typeface="Montserrat"/>
              </a:rPr>
              <a:t>1. The Artifact</a:t>
            </a:r>
            <a:r>
              <a:rPr b="0" i="0" lang="en-US" sz="135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A macro shot of the prop (e.g., a broken drumstick).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1152525" y="5293518"/>
            <a:ext cx="4181475" cy="6570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Montserrat"/>
                <a:ea typeface="Montserrat"/>
                <a:cs typeface="Montserrat"/>
                <a:sym typeface="Montserrat"/>
              </a:rPr>
              <a:t>2. The Portrait</a:t>
            </a:r>
            <a:r>
              <a:rPr b="0" i="0" lang="en-US" sz="135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The Hero Video of the woman in her element.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1152525" y="6141094"/>
            <a:ext cx="4181475" cy="716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4AF37"/>
                </a:solidFill>
                <a:latin typeface="Montserrat"/>
                <a:ea typeface="Montserrat"/>
                <a:cs typeface="Montserrat"/>
                <a:sym typeface="Montserrat"/>
              </a:rPr>
              <a:t>3. The Detail</a:t>
            </a:r>
            <a:r>
              <a:rPr b="0" i="0" lang="en-US" sz="135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Extreme close-up of the jewelry on sweating skin.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F59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2" name="Google Shape;202;p20"/>
          <p:cNvGraphicFramePr/>
          <p:nvPr/>
        </p:nvGraphicFramePr>
        <p:xfrm>
          <a:off x="581025" y="103078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{B1C14528-B806-4C5E-95C1-01C8948E9436}</a:tableStyleId>
              </a:tblPr>
              <a:tblGrid>
                <a:gridCol w="1654375"/>
                <a:gridCol w="2757475"/>
                <a:gridCol w="6618100"/>
              </a:tblGrid>
              <a:tr h="96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Day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Format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The Hook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6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Monday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Reel (Teaser)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"You think you know royalty? Think again." 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Jewelry thrown on concrete.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6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Tuesday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Carousel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"Desk to Dynasty." 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Styling for the 9-to-5 warrior.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6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Wednesday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Static Image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"Details from 740 AD. Vibe from 2024." 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Red neon lighting close-up.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6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Thursday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Collab Reel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"The Versatility Test." 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One choker, three non-ethnic looks.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64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Friday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Story Polls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"Pick your weapon." 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350" u="none" cap="none" strike="noStrike">
                          <a:solidFill>
                            <a:srgbClr val="E2E8F0"/>
                          </a:solidFill>
                          <a:latin typeface="Montserrat Light"/>
                          <a:ea typeface="Montserrat Light"/>
                          <a:cs typeface="Montserrat Light"/>
                          <a:sym typeface="Montserrat Light"/>
                        </a:rPr>
                        <a:t>Safe vs. Bold vibes.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3" name="Google Shape;203;p20"/>
          <p:cNvSpPr/>
          <p:nvPr/>
        </p:nvSpPr>
        <p:spPr>
          <a:xfrm>
            <a:off x="581025" y="1590823"/>
            <a:ext cx="165437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2235398" y="1590823"/>
            <a:ext cx="275748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4992885" y="1590823"/>
            <a:ext cx="661808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305276" y="38397"/>
            <a:ext cx="11581447" cy="706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4F1EA"/>
                </a:solidFill>
                <a:latin typeface="Cormorant Garamond SemiBold"/>
                <a:ea typeface="Cormorant Garamond SemiBold"/>
                <a:cs typeface="Cormorant Garamond SemiBold"/>
                <a:sym typeface="Cormorant Garamond SemiBold"/>
              </a:rPr>
              <a:t>A Week of Stories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5810250" y="887908"/>
            <a:ext cx="5715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F59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943373"/>
            <a:ext cx="3486150" cy="27903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943373"/>
            <a:ext cx="3486150" cy="27903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2943373"/>
            <a:ext cx="3486150" cy="27903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33600" y="323864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803910" y="3810148"/>
            <a:ext cx="3040380" cy="196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FFFFF"/>
                </a:solidFill>
                <a:latin typeface="Cormorant Garamond SemiBold"/>
                <a:ea typeface="Cormorant Garamond SemiBold"/>
                <a:cs typeface="Cormorant Garamond SemiBold"/>
                <a:sym typeface="Cormorant Garamond SemiBold"/>
              </a:rPr>
              <a:t>Anjali Mody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876300" y="4158555"/>
            <a:ext cx="28956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AF3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Founder, Josmo Studio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876300" y="4554735"/>
            <a:ext cx="28956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Authentic creator. She builds spaces, just as Rani Lokmahadevi built temples.</a:t>
            </a:r>
            <a:endParaRPr/>
          </a:p>
        </p:txBody>
      </p:sp>
      <p:pic>
        <p:nvPicPr>
          <p:cNvPr descr="image.png" id="220" name="Google Shape;22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5500" y="323864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4575810" y="3810148"/>
            <a:ext cx="3040380" cy="196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FFFFF"/>
                </a:solidFill>
                <a:latin typeface="Cormorant Garamond SemiBold"/>
                <a:ea typeface="Cormorant Garamond SemiBold"/>
                <a:cs typeface="Cormorant Garamond SemiBold"/>
                <a:sym typeface="Cormorant Garamond SemiBold"/>
              </a:rPr>
              <a:t>Aarifah Rebello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4648200" y="4158555"/>
            <a:ext cx="28956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AF3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Drummer / Songwriter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4648200" y="4554735"/>
            <a:ext cx="28956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Her distinctive style and rhythm embody the "voice" of the modern queen.</a:t>
            </a:r>
            <a:endParaRPr/>
          </a:p>
        </p:txBody>
      </p:sp>
      <p:pic>
        <p:nvPicPr>
          <p:cNvPr descr="image.png" id="224" name="Google Shape;22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9775" y="3238648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8347710" y="3810148"/>
            <a:ext cx="3040380" cy="196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FFFFF"/>
                </a:solidFill>
                <a:latin typeface="Cormorant Garamond SemiBold"/>
                <a:ea typeface="Cormorant Garamond SemiBold"/>
                <a:cs typeface="Cormorant Garamond SemiBold"/>
                <a:sym typeface="Cormorant Garamond SemiBold"/>
              </a:rPr>
              <a:t>Pooja Dhanda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8420100" y="4158555"/>
            <a:ext cx="28956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4AF3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Indian Wrestler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8420100" y="4554735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She redefines strength. Proof that jewelry can be armour.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305276" y="581025"/>
            <a:ext cx="11581447" cy="706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4F1EA"/>
                </a:solidFill>
                <a:latin typeface="Cormorant Garamond SemiBold"/>
                <a:ea typeface="Cormorant Garamond SemiBold"/>
                <a:cs typeface="Cormorant Garamond SemiBold"/>
                <a:sym typeface="Cormorant Garamond SemiBold"/>
              </a:rPr>
              <a:t>Partners with Purpose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4214812" y="1744860"/>
            <a:ext cx="3762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Real women who embody the "Urban Rani".</a:t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5810250" y="1430535"/>
            <a:ext cx="5715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F59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2"/>
          <p:cNvSpPr txBox="1"/>
          <p:nvPr/>
        </p:nvSpPr>
        <p:spPr>
          <a:xfrm>
            <a:off x="305276" y="1904107"/>
            <a:ext cx="11581447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5250" u="none" cap="none" strike="noStrike">
                <a:solidFill>
                  <a:srgbClr val="F4F1EA"/>
                </a:solidFill>
                <a:latin typeface="Cormorant Garamond SemiBold"/>
                <a:ea typeface="Cormorant Garamond SemiBold"/>
                <a:cs typeface="Cormorant Garamond SemiBold"/>
                <a:sym typeface="Cormorant Garamond SemiBold"/>
              </a:rPr>
              <a:t>Let's Build This Legacy.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581025" y="2923282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Immediate Next Steps</a:t>
            </a:r>
            <a:endParaRPr/>
          </a:p>
        </p:txBody>
      </p:sp>
      <p:pic>
        <p:nvPicPr>
          <p:cNvPr descr="image.png" id="238" name="Google Shape;23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90875" y="376520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2447925" y="4508152"/>
            <a:ext cx="18192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Confirm Talent Dates</a:t>
            </a:r>
            <a:endParaRPr/>
          </a:p>
        </p:txBody>
      </p:sp>
      <p:pic>
        <p:nvPicPr>
          <p:cNvPr descr="image.png" id="240" name="Google Shape;24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0" y="3765202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 txBox="1"/>
          <p:nvPr/>
        </p:nvSpPr>
        <p:spPr>
          <a:xfrm>
            <a:off x="4838700" y="4508152"/>
            <a:ext cx="2419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Approve Production Budget</a:t>
            </a:r>
            <a:endParaRPr/>
          </a:p>
        </p:txBody>
      </p:sp>
      <p:pic>
        <p:nvPicPr>
          <p:cNvPr descr="image.png" id="242" name="Google Shape;24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48687" y="376520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7829550" y="4508152"/>
            <a:ext cx="191452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2E8F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Secure Hero Inventory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